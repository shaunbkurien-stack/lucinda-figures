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16"/>
    <p:sldId id="260" r:id="rId6"/>
    <p:sldId id="266" r:id="rId17"/>
    <p:sldId id="261" r:id="rId7"/>
    <p:sldId id="262" r:id="rId8"/>
    <p:sldId id="263" r:id="rId9"/>
    <p:sldId id="264" r:id="rId10"/>
    <p:sldId id="267" r:id="rId18"/>
    <p:sldId id="268" r:id="rId19"/>
    <p:sldId id="269" r:id="rId2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5.xml"/><Relationship Id="rId17" Type="http://schemas.openxmlformats.org/officeDocument/2006/relationships/slide" Target="slides/slide7.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Work fronts</c:v>
                </c:pt>
              </c:strCache>
            </c:strRef>
          </c:tx>
          <c:spPr>
            <a:solidFill>
              <a:srgbClr val="E87722"/>
            </a:solidFill>
            <a:effectLst/>
          </c:spPr>
          <c:invertIfNegative val="0"/>
          <c:dLbls>
            <c:numFmt formatCode="#,##0"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E87722"/>
              </a:solidFill>
              <a:effectLst/>
            </c:spPr>
          </c:dPt>
          <c:dPt>
            <c:idx val="1"/>
            <c:invertIfNegative val="0"/>
            <c:bubble3D val="0"/>
            <c:spPr>
              <a:solidFill>
                <a:srgbClr val="8C8C8C"/>
              </a:solidFill>
              <a:effectLst/>
            </c:spPr>
          </c:dPt>
          <c:cat>
            <c:multiLvlStrRef>
              <c:f>Sheet1!$A$2:$A$3</c:f>
              <c:multiLvlStrCache>
                <c:ptCount val="2"/>
                <c:lvl>
                  <c:pt idx="0">
                    <c:v>Fronts the deadline needs</c:v>
                  </c:pt>
                  <c:pt idx="1">
                    <c:v>Fronts the method supports</c:v>
                  </c:pt>
                </c:lvl>
              </c:multiLvlStrCache>
            </c:multiLvlStrRef>
          </c:cat>
          <c:val>
            <c:numRef>
              <c:f>Sheet1!$B$2:$B$3</c:f>
              <c:numCache>
                <c:formatCode>General</c:formatCode>
                <c:ptCount val="2"/>
                <c:pt idx="0">
                  <c:v>16</c:v>
                </c:pt>
                <c:pt idx="1">
                  <c:v>5</c:v>
                </c:pt>
              </c:numCache>
            </c:numRef>
          </c:val>
        </c:ser>
        <c:dLbls>
          <c:numFmt formatCode="#,##0"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2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Arial"/>
              </a:defRPr>
            </a:pPr>
            <a:r>
              <a:rPr sz="1300" b="0" i="0" u="none" strike="noStrike">
                <a:solidFill>
                  <a:srgbClr val="1A1A1A"/>
                </a:solidFill>
                <a:latin typeface="Arial"/>
              </a:rPr>
              <a:t>Work platforms required</a:t>
            </a:r>
          </a:p>
        </c:rich>
      </c:tx>
      <c:layout/>
      <c:overlay val="0"/>
    </c:title>
    <c:autoTitleDeleted val="0"/>
    <c:plotArea>
      <c:layout/>
      <c:barChart>
        <c:barDir val="col"/>
        <c:grouping val="clustered"/>
        <c:varyColors val="0"/>
        <c:ser>
          <c:idx val="0"/>
          <c:order val="0"/>
          <c:tx>
            <c:strRef>
              <c:f>Sheet1!$B$1</c:f>
              <c:strCache>
                <c:ptCount val="1"/>
                <c:pt idx="0">
                  <c:v>Option 1</c:v>
                </c:pt>
              </c:strCache>
            </c:strRef>
          </c:tx>
          <c:spPr>
            <a:solidFill>
              <a:srgbClr val="8C8C8C"/>
            </a:solidFill>
            <a:effectLst/>
          </c:spPr>
          <c:invertIfNegative val="0"/>
          <c:dLbls>
            <c:numFmt formatCode="#,##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Good weather year</c:v>
                  </c:pt>
                  <c:pt idx="1">
                    <c:v>Expected weather</c:v>
                  </c:pt>
                  <c:pt idx="2">
                    <c:v>Poor weather year</c:v>
                  </c:pt>
                </c:lvl>
              </c:multiLvlStrCache>
            </c:multiLvlStrRef>
          </c:cat>
          <c:val>
            <c:numRef>
              <c:f>Sheet1!$B$2:$B$4</c:f>
              <c:numCache>
                <c:formatCode>General</c:formatCode>
                <c:ptCount val="3"/>
                <c:pt idx="0">
                  <c:v>8</c:v>
                </c:pt>
                <c:pt idx="1">
                  <c:v>9</c:v>
                </c:pt>
                <c:pt idx="2">
                  <c:v>10</c:v>
                </c:pt>
              </c:numCache>
            </c:numRef>
          </c:val>
        </c:ser>
        <c:ser>
          <c:idx val="1"/>
          <c:order val="1"/>
          <c:tx>
            <c:strRef>
              <c:f>Sheet1!$C$1</c:f>
              <c:strCache>
                <c:ptCount val="1"/>
                <c:pt idx="0">
                  <c:v>Option 2</c:v>
                </c:pt>
              </c:strCache>
            </c:strRef>
          </c:tx>
          <c:spPr>
            <a:solidFill>
              <a:srgbClr val="E87722"/>
            </a:solidFill>
            <a:effectLst/>
          </c:spPr>
          <c:invertIfNegative val="0"/>
          <c:dLbls>
            <c:numFmt formatCode="#,##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Good weather year</c:v>
                  </c:pt>
                  <c:pt idx="1">
                    <c:v>Expected weather</c:v>
                  </c:pt>
                  <c:pt idx="2">
                    <c:v>Poor weather year</c:v>
                  </c:pt>
                </c:lvl>
              </c:multiLvlStrCache>
            </c:multiLvlStrRef>
          </c:cat>
          <c:val>
            <c:numRef>
              <c:f>Sheet1!$C$2:$C$4</c:f>
              <c:numCache>
                <c:formatCode>General</c:formatCode>
                <c:ptCount val="3"/>
                <c:pt idx="0">
                  <c:v>5</c:v>
                </c:pt>
                <c:pt idx="1">
                  <c:v>6</c:v>
                </c:pt>
                <c:pt idx="2">
                  <c:v>6</c:v>
                </c:pt>
              </c:numCache>
            </c:numRef>
          </c:val>
        </c:ser>
        <c:dLbls>
          <c:numFmt formatCode="#,##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Arial"/>
              </a:defRPr>
            </a:pPr>
            <a:r>
              <a:rPr sz="1300" b="0" i="0" u="none" strike="noStrike">
                <a:solidFill>
                  <a:srgbClr val="1A1A1A"/>
                </a:solidFill>
                <a:latin typeface="Arial"/>
              </a:rPr>
              <a:t>Access provision, $ million</a:t>
            </a:r>
          </a:p>
        </c:rich>
      </c:tx>
      <c:layout/>
      <c:overlay val="0"/>
    </c:title>
    <c:autoTitleDeleted val="0"/>
    <c:plotArea>
      <c:layout/>
      <c:barChart>
        <c:barDir val="col"/>
        <c:grouping val="clustered"/>
        <c:varyColors val="0"/>
        <c:ser>
          <c:idx val="0"/>
          <c:order val="0"/>
          <c:tx>
            <c:strRef>
              <c:f>Sheet1!$B$1</c:f>
              <c:strCache>
                <c:ptCount val="1"/>
                <c:pt idx="0">
                  <c:v>Access provision</c:v>
                </c:pt>
              </c:strCache>
            </c:strRef>
          </c:tx>
          <c:spPr>
            <a:solidFill>
              <a:srgbClr val="8C8C8C"/>
            </a:solidFill>
            <a:effectLst/>
          </c:spPr>
          <c:invertIfNegative val="0"/>
          <c:dLbls>
            <c:numFmt formatCode="$0.0\M"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8C8C8C"/>
              </a:solidFill>
              <a:effectLst/>
            </c:spPr>
          </c:dPt>
          <c:dPt>
            <c:idx val="1"/>
            <c:invertIfNegative val="0"/>
            <c:bubble3D val="0"/>
            <c:spPr>
              <a:solidFill>
                <a:srgbClr val="E87722"/>
              </a:solidFill>
              <a:effectLst/>
            </c:spPr>
          </c:dPt>
          <c:cat>
            <c:multiLvlStrRef>
              <c:f>Sheet1!$A$2:$A$3</c:f>
              <c:multiLvlStrCache>
                <c:ptCount val="3"/>
                <c:lvl>
                  <c:pt idx="0">
                    <c:v>Current scaffold method</c:v>
                  </c:pt>
                  <c:pt idx="1">
                    <c:v>Marine, Option 1 day shift</c:v>
                  </c:pt>
                  <c:pt idx="2">
                    <c:v>Marine, Option 2 extended</c:v>
                  </c:pt>
                </c:lvl>
              </c:multiLvlStrCache>
            </c:multiLvlStrRef>
          </c:cat>
          <c:val>
            <c:numRef>
              <c:f>Sheet1!$B$2:$B$3</c:f>
              <c:numCache>
                <c:formatCode>General</c:formatCode>
                <c:ptCount val="3"/>
                <c:pt idx="0">
                  <c:v>9.3</c:v>
                </c:pt>
                <c:pt idx="1">
                  <c:v>16</c:v>
                </c:pt>
                <c:pt idx="2">
                  <c:v>14.2</c:v>
                </c:pt>
              </c:numCache>
            </c:numRef>
          </c:val>
        </c:ser>
        <c:dLbls>
          <c:numFmt formatCode="$0.0\M" sourceLinked="0"/>
          <c:txPr>
            <a:bodyPr/>
            <a:lstStyle/>
            <a:p>
              <a:pPr>
                <a:defRPr b="0" i="0" strike="noStrike" sz="14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MENU" Type="http://schemas.openxmlformats.org/officeDocument/2006/relationships/image" Target="../media/imageMENU.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01168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Lucinda Jetty Remediation</a:t>
            </a:r>
            <a:endParaRPr lang="en-US" sz="4400" dirty="0"/>
          </a:p>
        </p:txBody>
      </p:sp>
      <p:sp>
        <p:nvSpPr>
          <p:cNvPr id="3" name="Text 1"/>
          <p:cNvSpPr/>
          <p:nvPr/>
        </p:nvSpPr>
        <p:spPr>
          <a:xfrm>
            <a:off x="822960" y="2971800"/>
            <a:ext cx="10515600" cy="640080"/>
          </a:xfrm>
          <a:prstGeom prst="rect">
            <a:avLst/>
          </a:prstGeom>
          <a:noFill/>
          <a:ln/>
        </p:spPr>
        <p:txBody>
          <a:bodyPr wrap="square" lIns="0" tIns="0" rIns="0" bIns="0" rtlCol="0" anchor="ctr"/>
          <a:lstStyle/>
          <a:p>
            <a:pPr indent="0" marL="0">
              <a:buNone/>
            </a:pPr>
            <a:r>
              <a:rPr lang="en-US" sz="2800" dirty="0">
                <a:solidFill>
                  <a:srgbClr val="E87722"/>
                </a:solidFill>
                <a:latin typeface="Georgia" pitchFamily="34" charset="0"/>
                <a:ea typeface="Georgia" pitchFamily="34" charset="-122"/>
                <a:cs typeface="Georgia" pitchFamily="34" charset="-120"/>
              </a:rPr>
              <a:t>The access decision</a:t>
            </a:r>
            <a:endParaRPr lang="en-US" sz="2800" dirty="0"/>
          </a:p>
        </p:txBody>
      </p:sp>
      <p:sp>
        <p:nvSpPr>
          <p:cNvPr id="4" name="Text 2"/>
          <p:cNvSpPr/>
          <p:nvPr/>
        </p:nvSpPr>
        <p:spPr>
          <a:xfrm>
            <a:off x="822960" y="3977640"/>
            <a:ext cx="10515600" cy="365760"/>
          </a:xfrm>
          <a:prstGeom prst="rect">
            <a:avLst/>
          </a:prstGeom>
          <a:noFill/>
          <a:ln/>
        </p:spPr>
        <p:txBody>
          <a:bodyPr wrap="square" lIns="0" tIns="0" rIns="0" bIns="0" rtlCol="0" anchor="ctr"/>
          <a:lstStyle/>
          <a:p>
            <a:pPr indent="0" marL="0">
              <a:buNone/>
            </a:pPr>
            <a:r>
              <a:rPr lang="en-US" sz="1500" dirty="0">
                <a:solidFill>
                  <a:srgbClr val="CFCFCF"/>
                </a:solidFill>
                <a:latin typeface="Arial" pitchFamily="34" charset="0"/>
                <a:ea typeface="Arial" pitchFamily="34" charset="-122"/>
                <a:cs typeface="Arial" pitchFamily="34" charset="-120"/>
              </a:rPr>
              <a:t>Board briefing  |  Sugar Terminals Limited  |  August 2026</a:t>
            </a:r>
            <a:endParaRPr lang="en-US" sz="1500" dirty="0"/>
          </a:p>
        </p:txBody>
      </p:sp>
      <p:sp>
        <p:nvSpPr>
          <p:cNvPr id="5" name="Text 3"/>
          <p:cNvSpPr/>
          <p:nvPr/>
        </p:nvSpPr>
        <p:spPr>
          <a:xfrm>
            <a:off x="822960" y="5715000"/>
            <a:ext cx="10515600" cy="320040"/>
          </a:xfrm>
          <a:prstGeom prst="rect">
            <a:avLst/>
          </a:prstGeom>
          <a:noFill/>
          <a:ln/>
        </p:spPr>
        <p:txBody>
          <a:bodyPr wrap="square" lIns="0" tIns="0" rIns="0" bIns="0" rtlCol="0" anchor="ctr"/>
          <a:lstStyle/>
          <a:p>
            <a:pPr indent="0" marL="0">
              <a:buNone/>
            </a:pPr>
            <a:r>
              <a:rPr lang="en-US" sz="1100" dirty="0">
                <a:solidFill>
                  <a:srgbClr val="CFCFCF"/>
                </a:solidFill>
                <a:latin typeface="Arial" pitchFamily="34" charset="0"/>
                <a:ea typeface="Arial" pitchFamily="34" charset="-122"/>
                <a:cs typeface="Arial" pitchFamily="34" charset="-120"/>
              </a:rPr>
              <a:t>ED-018-2026-03  |  Rev B  |  20 August 2026  |  Prepared: S Kurien  |  Checked and approved: J van Iersel</a:t>
            </a:r>
            <a:endParaRPr lang="en-US" sz="1100" dirty="0"/>
          </a:p>
        </p:txBody>
      </p:sp>
      <p:sp>
        <p:nvSpPr>
          <p:cNvPr id="6" name="Text 4"/>
          <p:cNvSpPr/>
          <p:nvPr/>
        </p:nvSpPr>
        <p:spPr>
          <a:xfrm>
            <a:off x="822960" y="6053328"/>
            <a:ext cx="10515600" cy="365760"/>
          </a:xfrm>
          <a:prstGeom prst="rect">
            <a:avLst/>
          </a:prstGeom>
          <a:noFill/>
          <a:ln/>
        </p:spPr>
        <p:txBody>
          <a:bodyPr wrap="square" lIns="0" tIns="0" rIns="0" bIns="0" rtlCol="0" anchor="ctr"/>
          <a:lstStyle/>
          <a:p>
            <a:pPr indent="0" marL="0">
              <a:buNone/>
            </a:pPr>
            <a:r>
              <a:rPr lang="en-US" sz="1100" dirty="0">
                <a:solidFill>
                  <a:srgbClr val="8C8C8C"/>
                </a:solidFill>
                <a:latin typeface="Arial" pitchFamily="34" charset="0"/>
                <a:ea typeface="Arial" pitchFamily="34" charset="-122"/>
                <a:cs typeface="Arial" pitchFamily="34" charset="-120"/>
              </a:rPr>
              <a:t>Prepared by Endura Decommissioning under engagement ED-018-2026-01. Commercial in confidence.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One number decides this project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To finish the priority scope by the end of 2028, the works must complete 4.5 pilebents every week.</a:t>
            </a:r>
            <a:endParaRPr lang="en-US" sz="1400" dirty="0"/>
          </a:p>
        </p:txBody>
      </p:sp>
      <p:sp>
        <p:nvSpPr>
          <p:cNvPr id="4" name="Shape 2"/>
          <p:cNvSpPr/>
          <p:nvPr/>
        </p:nvSpPr>
        <p:spPr>
          <a:xfrm>
            <a:off x="548640" y="1691640"/>
            <a:ext cx="3520440" cy="2286000"/>
          </a:xfrm>
          <a:prstGeom prst="roundRect">
            <a:avLst>
              <a:gd name="adj" fmla="val 3200"/>
            </a:avLst>
          </a:prstGeom>
          <a:solidFill>
            <a:srgbClr val="FFFFFF"/>
          </a:solidFill>
          <a:ln w="12700">
            <a:solidFill>
              <a:srgbClr val="E3E0DA"/>
            </a:solidFill>
            <a:prstDash val="solid"/>
          </a:ln>
        </p:spPr>
        <p:txBody>
          <a:bodyPr/>
          <a:p/>
        </p:txBody>
      </p:sp>
      <p:sp>
        <p:nvSpPr>
          <p:cNvPr id="5" name="Text 3"/>
          <p:cNvSpPr/>
          <p:nvPr/>
        </p:nvSpPr>
        <p:spPr>
          <a:xfrm>
            <a:off x="548640" y="1874520"/>
            <a:ext cx="3520440" cy="1097280"/>
          </a:xfrm>
          <a:prstGeom prst="rect">
            <a:avLst/>
          </a:prstGeom>
          <a:noFill/>
          <a:ln/>
        </p:spPr>
        <p:txBody>
          <a:bodyPr wrap="square" lIns="0" tIns="0" rIns="0" bIns="0" rtlCol="0" anchor="ctr"/>
          <a:lstStyle/>
          <a:p>
            <a:pPr algn="ctr" indent="0" marL="0">
              <a:buNone/>
            </a:pPr>
            <a:r>
              <a:rPr lang="en-US" sz="6000" b="1" dirty="0">
                <a:solidFill>
                  <a:srgbClr val="8C8C8C"/>
                </a:solidFill>
                <a:latin typeface="Georgia" pitchFamily="34" charset="0"/>
                <a:ea typeface="Georgia" pitchFamily="34" charset="-122"/>
                <a:cs typeface="Georgia" pitchFamily="34" charset="-120"/>
              </a:rPr>
              <a:t>0.36</a:t>
            </a:r>
            <a:endParaRPr lang="en-US" sz="6000" dirty="0"/>
          </a:p>
        </p:txBody>
      </p:sp>
      <p:sp>
        <p:nvSpPr>
          <p:cNvPr id="6" name="Text 4"/>
          <p:cNvSpPr/>
          <p:nvPr/>
        </p:nvSpPr>
        <p:spPr>
          <a:xfrm>
            <a:off x="548640" y="3017520"/>
            <a:ext cx="352044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per week achieved</a:t>
            </a:r>
            <a:endParaRPr lang="en-US" sz="1600" dirty="0"/>
          </a:p>
        </p:txBody>
      </p:sp>
      <p:sp>
        <p:nvSpPr>
          <p:cNvPr id="7" name="Text 5"/>
          <p:cNvSpPr/>
          <p:nvPr/>
        </p:nvSpPr>
        <p:spPr>
          <a:xfrm>
            <a:off x="548640" y="3401568"/>
            <a:ext cx="3520440" cy="320040"/>
          </a:xfrm>
          <a:prstGeom prst="rect">
            <a:avLst/>
          </a:prstGeom>
          <a:noFill/>
          <a:ln/>
        </p:spPr>
        <p:txBody>
          <a:bodyPr wrap="square" lIns="0" tIns="0" rIns="0" bIns="0" rtlCol="0" anchor="ctr"/>
          <a:lstStyle/>
          <a:p>
            <a:pPr algn="ctr" indent="0" marL="0">
              <a:buNone/>
            </a:pPr>
            <a:r>
              <a:rPr lang="en-US" sz="1200" dirty="0">
                <a:solidFill>
                  <a:srgbClr val="8C8C8C"/>
                </a:solidFill>
                <a:latin typeface="Arial" pitchFamily="34" charset="0"/>
                <a:ea typeface="Arial" pitchFamily="34" charset="-122"/>
                <a:cs typeface="Arial" pitchFamily="34" charset="-120"/>
              </a:rPr>
              <a:t>March to July 2026</a:t>
            </a:r>
            <a:endParaRPr lang="en-US" sz="1200" dirty="0"/>
          </a:p>
        </p:txBody>
      </p:sp>
      <p:sp>
        <p:nvSpPr>
          <p:cNvPr id="8" name="Shape 6"/>
          <p:cNvSpPr/>
          <p:nvPr/>
        </p:nvSpPr>
        <p:spPr>
          <a:xfrm>
            <a:off x="4434840" y="1691640"/>
            <a:ext cx="3520440" cy="2286000"/>
          </a:xfrm>
          <a:prstGeom prst="roundRect">
            <a:avLst>
              <a:gd name="adj" fmla="val 3200"/>
            </a:avLst>
          </a:prstGeom>
          <a:solidFill>
            <a:srgbClr val="FFFFFF"/>
          </a:solidFill>
          <a:ln w="12700">
            <a:solidFill>
              <a:srgbClr val="E3E0DA"/>
            </a:solidFill>
            <a:prstDash val="solid"/>
          </a:ln>
        </p:spPr>
        <p:txBody>
          <a:bodyPr/>
          <a:p/>
        </p:txBody>
      </p:sp>
      <p:sp>
        <p:nvSpPr>
          <p:cNvPr id="9" name="Text 7"/>
          <p:cNvSpPr/>
          <p:nvPr/>
        </p:nvSpPr>
        <p:spPr>
          <a:xfrm>
            <a:off x="4434840" y="1874520"/>
            <a:ext cx="3520440" cy="1097280"/>
          </a:xfrm>
          <a:prstGeom prst="rect">
            <a:avLst/>
          </a:prstGeom>
          <a:noFill/>
          <a:ln/>
        </p:spPr>
        <p:txBody>
          <a:bodyPr wrap="square" lIns="0" tIns="0" rIns="0" bIns="0" rtlCol="0" anchor="ctr"/>
          <a:lstStyle/>
          <a:p>
            <a:pPr algn="ctr" indent="0" marL="0">
              <a:buNone/>
            </a:pPr>
            <a:r>
              <a:rPr lang="en-US" sz="6000" b="1" dirty="0">
                <a:solidFill>
                  <a:srgbClr val="8C8C8C"/>
                </a:solidFill>
                <a:latin typeface="Georgia" pitchFamily="34" charset="0"/>
                <a:ea typeface="Georgia" pitchFamily="34" charset="-122"/>
                <a:cs typeface="Georgia" pitchFamily="34" charset="-120"/>
              </a:rPr>
              <a:t>2.5</a:t>
            </a:r>
            <a:endParaRPr lang="en-US" sz="6000" dirty="0"/>
          </a:p>
        </p:txBody>
      </p:sp>
      <p:sp>
        <p:nvSpPr>
          <p:cNvPr id="10" name="Text 8"/>
          <p:cNvSpPr/>
          <p:nvPr/>
        </p:nvSpPr>
        <p:spPr>
          <a:xfrm>
            <a:off x="4434840" y="3017520"/>
            <a:ext cx="352044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per week planned</a:t>
            </a:r>
            <a:endParaRPr lang="en-US" sz="1600" dirty="0"/>
          </a:p>
        </p:txBody>
      </p:sp>
      <p:sp>
        <p:nvSpPr>
          <p:cNvPr id="11" name="Text 9"/>
          <p:cNvSpPr/>
          <p:nvPr/>
        </p:nvSpPr>
        <p:spPr>
          <a:xfrm>
            <a:off x="4434840" y="3401568"/>
            <a:ext cx="3520440" cy="320040"/>
          </a:xfrm>
          <a:prstGeom prst="rect">
            <a:avLst/>
          </a:prstGeom>
          <a:noFill/>
          <a:ln/>
        </p:spPr>
        <p:txBody>
          <a:bodyPr wrap="square" lIns="0" tIns="0" rIns="0" bIns="0" rtlCol="0" anchor="ctr"/>
          <a:lstStyle/>
          <a:p>
            <a:pPr algn="ctr" indent="0" marL="0">
              <a:buNone/>
            </a:pPr>
            <a:r>
              <a:rPr lang="en-US" sz="1200" dirty="0">
                <a:solidFill>
                  <a:srgbClr val="8C8C8C"/>
                </a:solidFill>
                <a:latin typeface="Arial" pitchFamily="34" charset="0"/>
                <a:ea typeface="Arial" pitchFamily="34" charset="-122"/>
                <a:cs typeface="Arial" pitchFamily="34" charset="-120"/>
              </a:rPr>
              <a:t>the contract programme</a:t>
            </a:r>
            <a:endParaRPr lang="en-US" sz="1200" dirty="0"/>
          </a:p>
        </p:txBody>
      </p:sp>
      <p:sp>
        <p:nvSpPr>
          <p:cNvPr id="12" name="Shape 10"/>
          <p:cNvSpPr/>
          <p:nvPr/>
        </p:nvSpPr>
        <p:spPr>
          <a:xfrm>
            <a:off x="8321040" y="1691640"/>
            <a:ext cx="3520440" cy="2286000"/>
          </a:xfrm>
          <a:prstGeom prst="roundRect">
            <a:avLst>
              <a:gd name="adj" fmla="val 3200"/>
            </a:avLst>
          </a:prstGeom>
          <a:solidFill>
            <a:srgbClr val="FAF7F1"/>
          </a:solidFill>
          <a:ln w="25400">
            <a:solidFill>
              <a:srgbClr val="E87722"/>
            </a:solidFill>
            <a:prstDash val="solid"/>
          </a:ln>
        </p:spPr>
        <p:txBody>
          <a:bodyPr/>
          <a:p/>
        </p:txBody>
      </p:sp>
      <p:sp>
        <p:nvSpPr>
          <p:cNvPr id="13" name="Text 11"/>
          <p:cNvSpPr/>
          <p:nvPr/>
        </p:nvSpPr>
        <p:spPr>
          <a:xfrm>
            <a:off x="8321040" y="1874520"/>
            <a:ext cx="3520440" cy="1097280"/>
          </a:xfrm>
          <a:prstGeom prst="rect">
            <a:avLst/>
          </a:prstGeom>
          <a:noFill/>
          <a:ln/>
        </p:spPr>
        <p:txBody>
          <a:bodyPr wrap="square" lIns="0" tIns="0" rIns="0" bIns="0" rtlCol="0" anchor="ctr"/>
          <a:lstStyle/>
          <a:p>
            <a:pPr algn="ctr" indent="0" marL="0">
              <a:buNone/>
            </a:pPr>
            <a:r>
              <a:rPr lang="en-US" sz="6000" b="1" dirty="0">
                <a:solidFill>
                  <a:srgbClr val="E87722"/>
                </a:solidFill>
                <a:latin typeface="Georgia" pitchFamily="34" charset="0"/>
                <a:ea typeface="Georgia" pitchFamily="34" charset="-122"/>
                <a:cs typeface="Georgia" pitchFamily="34" charset="-120"/>
              </a:rPr>
              <a:t>4.5</a:t>
            </a:r>
            <a:endParaRPr lang="en-US" sz="6000" dirty="0"/>
          </a:p>
        </p:txBody>
      </p:sp>
      <p:sp>
        <p:nvSpPr>
          <p:cNvPr id="14" name="Text 12"/>
          <p:cNvSpPr/>
          <p:nvPr/>
        </p:nvSpPr>
        <p:spPr>
          <a:xfrm>
            <a:off x="8321040" y="3017520"/>
            <a:ext cx="352044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per week required</a:t>
            </a:r>
            <a:endParaRPr lang="en-US" sz="1600" dirty="0"/>
          </a:p>
        </p:txBody>
      </p:sp>
      <p:sp>
        <p:nvSpPr>
          <p:cNvPr id="15" name="Text 13"/>
          <p:cNvSpPr/>
          <p:nvPr/>
        </p:nvSpPr>
        <p:spPr>
          <a:xfrm>
            <a:off x="8321040" y="3401568"/>
            <a:ext cx="3520440" cy="320040"/>
          </a:xfrm>
          <a:prstGeom prst="rect">
            <a:avLst/>
          </a:prstGeom>
          <a:noFill/>
          <a:ln/>
        </p:spPr>
        <p:txBody>
          <a:bodyPr wrap="square" lIns="0" tIns="0" rIns="0" bIns="0" rtlCol="0" anchor="ctr"/>
          <a:lstStyle/>
          <a:p>
            <a:pPr algn="ctr" indent="0" marL="0">
              <a:buNone/>
            </a:pPr>
            <a:r>
              <a:rPr lang="en-US" sz="1200" dirty="0">
                <a:solidFill>
                  <a:srgbClr val="8C8C8C"/>
                </a:solidFill>
                <a:latin typeface="Arial" pitchFamily="34" charset="0"/>
                <a:ea typeface="Arial" pitchFamily="34" charset="-122"/>
                <a:cs typeface="Arial" pitchFamily="34" charset="-120"/>
              </a:rPr>
              <a:t>to finish by end 2028</a:t>
            </a:r>
            <a:endParaRPr lang="en-US" sz="1200" dirty="0"/>
          </a:p>
        </p:txBody>
      </p:sp>
      <p:sp>
        <p:nvSpPr>
          <p:cNvPr id="16" name="Text 14"/>
          <p:cNvSpPr/>
          <p:nvPr/>
        </p:nvSpPr>
        <p:spPr>
          <a:xfrm>
            <a:off x="548640" y="4343400"/>
            <a:ext cx="11064240" cy="155448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The plan was half the required rate before a single day was lost. </a:t>
            </a:r>
            <a:pPr indent="0" marL="0">
              <a:buNone/>
            </a:pPr>
            <a:r>
              <a:rPr lang="en-US" sz="1600" dirty="0">
                <a:solidFill>
                  <a:srgbClr val="1A1A1A"/>
                </a:solidFill>
                <a:latin typeface="Arial" pitchFamily="34" charset="0"/>
                <a:ea typeface="Arial" pitchFamily="34" charset="-122"/>
                <a:cs typeface="Arial" pitchFamily="34" charset="-120"/>
              </a:rPr>
              <a:t>Delivery is running at one twelfth. At the achieved rate the remaining 227 pilebents finish beyond 2035 on that arithmetic; the asset requirement is the end of 2028. A pilebent is one of the repeating two pile frames that carry the jetty; 227 bent planning basis, pending the STL register.</a:t>
            </a:r>
            <a:endParaRPr lang="en-US" sz="160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B</a:t>
            </a:r>
            <a:endParaRPr lang="en-US" sz="900" dirty="0"/>
          </a:p>
        </p:txBody>
      </p:sp>
      <p:sp>
        <p:nvSpPr>
          <p:cNvPr id="18" name="Text 16"/>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More effort cannot fix it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The constraint is built into how access is provided, not into how hard anyone works.</a:t>
            </a:r>
            <a:endParaRPr lang="en-US" sz="1400" dirty="0"/>
          </a:p>
        </p:txBody>
      </p:sp>
      <p:sp>
        <p:nvSpPr>
          <p:cNvPr id="4" name="Text 2"/>
          <p:cNvSpPr/>
          <p:nvPr/>
        </p:nvSpPr>
        <p:spPr>
          <a:xfrm>
            <a:off x="548640" y="1600200"/>
            <a:ext cx="5577840" cy="42062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Today, scaffold is built, wrapped, stripped and rebuilt at every single pilebent. </a:t>
            </a:r>
            <a:pPr indent="0" marL="0">
              <a:buNone/>
            </a:pPr>
            <a:r>
              <a:rPr lang="en-US" sz="1500" dirty="0">
                <a:solidFill>
                  <a:srgbClr val="1A1A1A"/>
                </a:solidFill>
                <a:latin typeface="Arial" pitchFamily="34" charset="0"/>
                <a:ea typeface="Arial" pitchFamily="34" charset="-122"/>
                <a:cs typeface="Arial" pitchFamily="34" charset="-120"/>
              </a:rPr>
              <a:t>Of a 15 to 16 day cycle, only about half is trade work; the rest is access handling and approval waiting, paid again 227 times.
</a:t>
            </a:r>
            <a:pPr indent="0" marL="0">
              <a:buNone/>
            </a:pPr>
            <a:r>
              <a:rPr lang="en-US" sz="1500" b="1" dirty="0">
                <a:solidFill>
                  <a:srgbClr val="1A1A1A"/>
                </a:solidFill>
                <a:latin typeface="Arial" pitchFamily="34" charset="0"/>
                <a:ea typeface="Arial" pitchFamily="34" charset="-122"/>
                <a:cs typeface="Arial" pitchFamily="34" charset="-120"/>
              </a:rPr>
              <a:t>To reach 4.5 per week this way would take 14 to 18 scaffold crews working at once. </a:t>
            </a:r>
            <a:pPr indent="0" marL="0">
              <a:buNone/>
            </a:pPr>
            <a:r>
              <a:rPr lang="en-US" sz="1500" dirty="0">
                <a:solidFill>
                  <a:srgbClr val="1A1A1A"/>
                </a:solidFill>
                <a:latin typeface="Arial" pitchFamily="34" charset="0"/>
                <a:ea typeface="Arial" pitchFamily="34" charset="-122"/>
                <a:cs typeface="Arial" pitchFamily="34" charset="-120"/>
              </a:rPr>
              <a:t>The method physically supports about five: one welding unit, one blasting unit, and a single lane roadway that every scaffold movement must share.
</a:t>
            </a:r>
            <a:pPr indent="0" marL="0">
              <a:buNone/>
            </a:pPr>
            <a:r>
              <a:rPr lang="en-US" sz="1500" dirty="0">
                <a:solidFill>
                  <a:srgbClr val="1A1A1A"/>
                </a:solidFill>
                <a:latin typeface="Arial" pitchFamily="34" charset="0"/>
                <a:ea typeface="Arial" pitchFamily="34" charset="-122"/>
                <a:cs typeface="Arial" pitchFamily="34" charset="-120"/>
              </a:rPr>
              <a:t>Five perfect scaffold fronts deliver 1.3 to 1.7 per week. That is five or more seasons of work, whoever performs it.</a:t>
            </a:r>
            <a:endParaRPr lang="en-US" sz="1500" dirty="0"/>
          </a:p>
        </p:txBody>
      </p:sp>
      <p:graphicFrame>
        <p:nvGraphicFramePr>
          <p:cNvPr id="5" name="Chart 0" descr=""/>
          <p:cNvGraphicFramePr/>
          <p:nvPr/>
        </p:nvGraphicFramePr>
        <p:xfrm>
          <a:off x="6492240" y="169164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92240" y="5440680"/>
            <a:ext cx="5120640" cy="548640"/>
          </a:xfrm>
          <a:prstGeom prst="rect">
            <a:avLst/>
          </a:prstGeom>
          <a:noFill/>
          <a:ln/>
        </p:spPr>
        <p:txBody>
          <a:bodyPr wrap="square" lIns="0" tIns="0" rIns="0" bIns="0" rtlCol="0" anchor="ctr"/>
          <a:lstStyle/>
          <a:p>
            <a:pPr indent="0" marL="0">
              <a:buNone/>
            </a:pPr>
            <a:r>
              <a:rPr lang="en-US" sz="1100" i="1" dirty="0">
                <a:solidFill>
                  <a:srgbClr val="8C8C8C"/>
                </a:solidFill>
                <a:latin typeface="Arial" pitchFamily="34" charset="0"/>
                <a:ea typeface="Arial" pitchFamily="34" charset="-122"/>
                <a:cs typeface="Arial" pitchFamily="34" charset="-120"/>
              </a:rPr>
              <a:t>Needed: 14 to 18 (16 shown). Re tendering the same method hands the same arithmetic to the next contractor.</a:t>
            </a:r>
            <a:endParaRPr lang="en-US" sz="1100" dirty="0"/>
          </a:p>
        </p:txBody>
      </p:sp>
      <p:sp>
        <p:nvSpPr>
          <p:cNvPr id="7" name="Text 4"/>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B</a:t>
            </a:r>
            <a:endParaRPr lang="en-US" sz="900" dirty="0"/>
          </a:p>
        </p:txBody>
      </p:sp>
      <p:sp>
        <p:nvSpPr>
          <p:cNvPr id="8" name="Text 5"/>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The fix: build the access once, and move it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A floating work platform replaces the scaffold that is currently rebuilt at every pilebent.</a:t>
            </a:r>
            <a:endParaRPr lang="en-US" sz="1400" dirty="0"/>
          </a:p>
        </p:txBody>
      </p:sp>
      <p:sp>
        <p:nvSpPr>
          <p:cNvPr id="4" name="Shape 2"/>
          <p:cNvSpPr/>
          <p:nvPr/>
        </p:nvSpPr>
        <p:spPr>
          <a:xfrm>
            <a:off x="548640" y="1645920"/>
            <a:ext cx="566928" cy="566928"/>
          </a:xfrm>
          <a:prstGeom prst="ellipse">
            <a:avLst/>
          </a:prstGeom>
          <a:solidFill>
            <a:srgbClr val="E87722"/>
          </a:solidFill>
          <a:ln/>
        </p:spPr>
        <p:txBody>
          <a:bodyPr/>
          <a:p/>
        </p:txBody>
      </p:sp>
      <p:sp>
        <p:nvSpPr>
          <p:cNvPr id="5" name="Text 3"/>
          <p:cNvSpPr/>
          <p:nvPr/>
        </p:nvSpPr>
        <p:spPr>
          <a:xfrm>
            <a:off x="548640" y="16459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1325880" y="1609344"/>
            <a:ext cx="576072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Platforms float in by boat</a:t>
            </a:r>
            <a:endParaRPr lang="en-US" sz="1600" dirty="0"/>
          </a:p>
        </p:txBody>
      </p:sp>
      <p:sp>
        <p:nvSpPr>
          <p:cNvPr id="7" name="Text 5"/>
          <p:cNvSpPr/>
          <p:nvPr/>
        </p:nvSpPr>
        <p:spPr>
          <a:xfrm>
            <a:off x="1325880" y="1975104"/>
            <a:ext cx="5760720" cy="7772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Work stages built on floats are pushed to each pilebent by workboat and joined around the piles. Reduced roadway load.</a:t>
            </a:r>
            <a:endParaRPr lang="en-US" sz="1250" dirty="0"/>
          </a:p>
        </p:txBody>
      </p:sp>
      <p:sp>
        <p:nvSpPr>
          <p:cNvPr id="8" name="Shape 6"/>
          <p:cNvSpPr/>
          <p:nvPr/>
        </p:nvSpPr>
        <p:spPr>
          <a:xfrm>
            <a:off x="548640" y="2880360"/>
            <a:ext cx="566928" cy="566928"/>
          </a:xfrm>
          <a:prstGeom prst="ellipse">
            <a:avLst/>
          </a:prstGeom>
          <a:solidFill>
            <a:srgbClr val="E87722"/>
          </a:solidFill>
          <a:ln/>
        </p:spPr>
        <p:txBody>
          <a:bodyPr/>
          <a:p/>
        </p:txBody>
      </p:sp>
      <p:sp>
        <p:nvSpPr>
          <p:cNvPr id="9" name="Text 7"/>
          <p:cNvSpPr/>
          <p:nvPr/>
        </p:nvSpPr>
        <p:spPr>
          <a:xfrm>
            <a:off x="548640" y="2880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0" name="Text 8"/>
          <p:cNvSpPr/>
          <p:nvPr/>
        </p:nvSpPr>
        <p:spPr>
          <a:xfrm>
            <a:off x="1325880" y="2843784"/>
            <a:ext cx="576072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They lift clear of the tide</a:t>
            </a:r>
            <a:endParaRPr lang="en-US" sz="1600" dirty="0"/>
          </a:p>
        </p:txBody>
      </p:sp>
      <p:sp>
        <p:nvSpPr>
          <p:cNvPr id="11" name="Text 9"/>
          <p:cNvSpPr/>
          <p:nvPr/>
        </p:nvSpPr>
        <p:spPr>
          <a:xfrm>
            <a:off x="1325880" y="3209544"/>
            <a:ext cx="5760720" cy="7772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Electric hoists raise the whole stage above the water, where it is secured as a stable, enclosed work deck.</a:t>
            </a:r>
            <a:endParaRPr lang="en-US" sz="1250" dirty="0"/>
          </a:p>
        </p:txBody>
      </p:sp>
      <p:sp>
        <p:nvSpPr>
          <p:cNvPr id="12" name="Shape 10"/>
          <p:cNvSpPr/>
          <p:nvPr/>
        </p:nvSpPr>
        <p:spPr>
          <a:xfrm>
            <a:off x="548640" y="4114800"/>
            <a:ext cx="566928" cy="566928"/>
          </a:xfrm>
          <a:prstGeom prst="ellipse">
            <a:avLst/>
          </a:prstGeom>
          <a:solidFill>
            <a:srgbClr val="E87722"/>
          </a:solidFill>
          <a:ln/>
        </p:spPr>
        <p:txBody>
          <a:bodyPr/>
          <a:p/>
        </p:txBody>
      </p:sp>
      <p:sp>
        <p:nvSpPr>
          <p:cNvPr id="13" name="Text 11"/>
          <p:cNvSpPr/>
          <p:nvPr/>
        </p:nvSpPr>
        <p:spPr>
          <a:xfrm>
            <a:off x="548640" y="41148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4" name="Text 12"/>
          <p:cNvSpPr/>
          <p:nvPr/>
        </p:nvSpPr>
        <p:spPr>
          <a:xfrm>
            <a:off x="1325880" y="4078224"/>
            <a:ext cx="576072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The trades work, then it moves on</a:t>
            </a:r>
            <a:endParaRPr lang="en-US" sz="1600" dirty="0"/>
          </a:p>
        </p:txBody>
      </p:sp>
      <p:sp>
        <p:nvSpPr>
          <p:cNvPr id="15" name="Text 13"/>
          <p:cNvSpPr/>
          <p:nvPr/>
        </p:nvSpPr>
        <p:spPr>
          <a:xfrm>
            <a:off x="1325880" y="4443984"/>
            <a:ext cx="5760720" cy="7772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Welding, blasting, coating and wrapping happen exactly as they do today. Then the platform moves to the next pilebent in hours, not days.</a:t>
            </a:r>
            <a:endParaRPr lang="en-US" sz="1250" dirty="0"/>
          </a:p>
        </p:txBody>
      </p:sp>
      <p:sp>
        <p:nvSpPr>
          <p:cNvPr id="16" name="Shape 14"/>
          <p:cNvSpPr/>
          <p:nvPr/>
        </p:nvSpPr>
        <p:spPr>
          <a:xfrm>
            <a:off x="7589520" y="1645920"/>
            <a:ext cx="4023360" cy="3657600"/>
          </a:xfrm>
          <a:prstGeom prst="roundRect">
            <a:avLst>
              <a:gd name="adj" fmla="val 2000"/>
            </a:avLst>
          </a:prstGeom>
          <a:solidFill>
            <a:srgbClr val="FAF7F1"/>
          </a:solidFill>
          <a:ln w="12700">
            <a:solidFill>
              <a:srgbClr val="E3E0DA"/>
            </a:solidFill>
            <a:prstDash val="solid"/>
          </a:ln>
        </p:spPr>
        <p:txBody>
          <a:bodyPr/>
          <a:p/>
        </p:txBody>
      </p:sp>
      <p:sp>
        <p:nvSpPr>
          <p:cNvPr id="17" name="Text 15"/>
          <p:cNvSpPr/>
          <p:nvPr/>
        </p:nvSpPr>
        <p:spPr>
          <a:xfrm>
            <a:off x="7863840" y="1874520"/>
            <a:ext cx="3474720" cy="365760"/>
          </a:xfrm>
          <a:prstGeom prst="rect">
            <a:avLst/>
          </a:prstGeom>
          <a:noFill/>
          <a:ln/>
        </p:spPr>
        <p:txBody>
          <a:bodyPr wrap="square" lIns="0" tIns="0" rIns="0" bIns="0" rtlCol="0" anchor="ctr"/>
          <a:lstStyle/>
          <a:p>
            <a:pPr indent="0" marL="0">
              <a:buNone/>
            </a:pPr>
            <a:r>
              <a:rPr lang="en-US" sz="1600" b="1" dirty="0">
                <a:solidFill>
                  <a:srgbClr val="1A1A1A"/>
                </a:solidFill>
                <a:latin typeface="Georgia" pitchFamily="34" charset="0"/>
                <a:ea typeface="Georgia" pitchFamily="34" charset="-122"/>
                <a:cs typeface="Georgia" pitchFamily="34" charset="-120"/>
              </a:rPr>
              <a:t>What does not change</a:t>
            </a:r>
            <a:endParaRPr lang="en-US" sz="1600" dirty="0"/>
          </a:p>
        </p:txBody>
      </p:sp>
      <p:sp>
        <p:nvSpPr>
          <p:cNvPr id="18" name="Text 16"/>
          <p:cNvSpPr/>
          <p:nvPr/>
        </p:nvSpPr>
        <p:spPr>
          <a:xfrm>
            <a:off x="7863840" y="2286000"/>
            <a:ext cx="3474720" cy="283464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The trade work itself. </a:t>
            </a:r>
            <a:pPr indent="0" marL="0">
              <a:buNone/>
            </a:pPr>
            <a:r>
              <a:rPr lang="en-US" sz="1250" dirty="0">
                <a:solidFill>
                  <a:srgbClr val="1A1A1A"/>
                </a:solidFill>
                <a:latin typeface="Arial" pitchFamily="34" charset="0"/>
                <a:ea typeface="Arial" pitchFamily="34" charset="-122"/>
                <a:cs typeface="Arial" pitchFamily="34" charset="-120"/>
              </a:rPr>
              <a:t>Same repairs, same coating system, same crews, same rates, same quality standard. This assessment re prices the access only.
</a:t>
            </a:r>
            <a:pPr indent="0" marL="0">
              <a:buNone/>
            </a:pPr>
            <a:r>
              <a:rPr lang="en-US" sz="1250" dirty="0">
                <a:solidFill>
                  <a:srgbClr val="1A1A1A"/>
                </a:solidFill>
                <a:latin typeface="Arial" pitchFamily="34" charset="0"/>
                <a:ea typeface="Arial" pitchFamily="34" charset="-122"/>
                <a:cs typeface="Arial" pitchFamily="34" charset="-120"/>
              </a:rPr>
              <a:t>What improves is that the trade crews always have a face to work on, instead of waiting for scaffold.</a:t>
            </a:r>
            <a:endParaRPr lang="en-US" sz="1250" dirty="0"/>
          </a:p>
        </p:txBody>
      </p:sp>
      <p:sp>
        <p:nvSpPr>
          <p:cNvPr id="19" name="Text 17"/>
          <p:cNvSpPr/>
          <p:nvPr/>
        </p:nvSpPr>
        <p:spPr>
          <a:xfrm>
            <a:off x="548640" y="5577840"/>
            <a:ext cx="6583680" cy="548640"/>
          </a:xfrm>
          <a:prstGeom prst="rect">
            <a:avLst/>
          </a:prstGeom>
          <a:noFill/>
          <a:ln/>
        </p:spPr>
        <p:txBody>
          <a:bodyPr wrap="square" lIns="0" tIns="0" rIns="0" bIns="0" rtlCol="0" anchor="ctr"/>
          <a:lstStyle/>
          <a:p>
            <a:pPr indent="0" marL="0">
              <a:buNone/>
            </a:pPr>
            <a:r>
              <a:rPr lang="en-US" sz="1100" i="1" dirty="0">
                <a:solidFill>
                  <a:srgbClr val="8C8C8C"/>
                </a:solidFill>
                <a:latin typeface="Arial" pitchFamily="34" charset="0"/>
                <a:ea typeface="Arial" pitchFamily="34" charset="-122"/>
                <a:cs typeface="Arial" pitchFamily="34" charset="-120"/>
              </a:rPr>
              <a:t>The system uses suspended access equipment already certified and working under jetties of this kind, sized here into a fleet.</a:t>
            </a:r>
            <a:endParaRPr lang="en-US" sz="1100" dirty="0"/>
          </a:p>
        </p:txBody>
      </p:sp>
      <p:sp>
        <p:nvSpPr>
          <p:cNvPr id="20" name="Text 18"/>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B</a:t>
            </a:r>
            <a:endParaRPr lang="en-US" sz="900" dirty="0"/>
          </a:p>
        </p:txBody>
      </p:sp>
      <p:sp>
        <p:nvSpPr>
          <p:cNvPr id="21" name="Text 19"/>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64240" cy="685800"/>
          </a:xfrm>
          <a:prstGeom prst="rect">
            <a:avLst/>
          </a:prstGeom>
          <a:noFill/>
        </p:spPr>
        <p:txBody>
          <a:bodyPr wrap="none">
            <a:spAutoFit/>
          </a:bodyPr>
          <a:lstStyle/>
          <a:p>
            <a:r>
              <a:rPr sz="3000" b="1">
                <a:solidFill>
                  <a:srgbClr val="1A1A1A"/>
                </a:solidFill>
                <a:latin typeface="Georgia"/>
              </a:rPr>
              <a:t>The kit exists: supplier platforms in service</a:t>
            </a:r>
          </a:p>
        </p:txBody>
      </p:sp>
      <p:pic>
        <p:nvPicPr>
          <p:cNvPr id="3" name="Picture 2" descr="ED-018-2026-03_Photo_Kit_In_Service.jpg"/>
          <p:cNvPicPr>
            <a:picLocks noChangeAspect="1"/>
          </p:cNvPicPr>
          <p:nvPr/>
        </p:nvPicPr>
        <p:blipFill>
          <a:blip r:embed="rId2"/>
          <a:stretch>
            <a:fillRect/>
          </a:stretch>
        </p:blipFill>
        <p:spPr>
          <a:xfrm>
            <a:off x="1367767" y="1249848"/>
            <a:ext cx="9456465" cy="51881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Two ways to run it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Same platform system, same trade work. The difference is when the trades work.</a:t>
            </a:r>
            <a:endParaRPr lang="en-US" sz="1400" dirty="0"/>
          </a:p>
        </p:txBody>
      </p:sp>
      <p:sp>
        <p:nvSpPr>
          <p:cNvPr id="4" name="Shape 2"/>
          <p:cNvSpPr/>
          <p:nvPr/>
        </p:nvSpPr>
        <p:spPr>
          <a:xfrm>
            <a:off x="548640" y="1600200"/>
            <a:ext cx="5440680" cy="4206240"/>
          </a:xfrm>
          <a:prstGeom prst="roundRect">
            <a:avLst>
              <a:gd name="adj" fmla="val 1739"/>
            </a:avLst>
          </a:prstGeom>
          <a:solidFill>
            <a:srgbClr val="FFFFFF"/>
          </a:solidFill>
          <a:ln w="12700">
            <a:solidFill>
              <a:srgbClr val="E3E0DA"/>
            </a:solidFill>
            <a:prstDash val="solid"/>
          </a:ln>
        </p:spPr>
        <p:txBody>
          <a:bodyPr/>
          <a:p/>
        </p:txBody>
      </p:sp>
      <p:sp>
        <p:nvSpPr>
          <p:cNvPr id="5" name="Text 3"/>
          <p:cNvSpPr/>
          <p:nvPr/>
        </p:nvSpPr>
        <p:spPr>
          <a:xfrm>
            <a:off x="868680" y="1810512"/>
            <a:ext cx="4846320" cy="36576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Option 1  Recommended, day shift</a:t>
            </a:r>
            <a:endParaRPr lang="en-US" sz="1800" dirty="0"/>
          </a:p>
        </p:txBody>
      </p:sp>
      <p:sp>
        <p:nvSpPr>
          <p:cNvPr id="6" name="Text 4"/>
          <p:cNvSpPr/>
          <p:nvPr/>
        </p:nvSpPr>
        <p:spPr>
          <a:xfrm>
            <a:off x="868680" y="2194560"/>
            <a:ext cx="4846320" cy="594360"/>
          </a:xfrm>
          <a:prstGeom prst="rect">
            <a:avLst/>
          </a:prstGeom>
          <a:noFill/>
          <a:ln/>
        </p:spPr>
        <p:txBody>
          <a:bodyPr wrap="square" lIns="0" tIns="0" rIns="0" bIns="0" rtlCol="0" anchor="ctr"/>
          <a:lstStyle/>
          <a:p>
            <a:pPr indent="0" marL="0">
              <a:buNone/>
            </a:pPr>
            <a:r>
              <a:rPr lang="en-US" sz="1200" dirty="0">
                <a:solidFill>
                  <a:srgbClr val="8C8C8C"/>
                </a:solidFill>
                <a:latin typeface="Arial" pitchFamily="34" charset="0"/>
                <a:ea typeface="Arial" pitchFamily="34" charset="-122"/>
                <a:cs typeface="Arial" pitchFamily="34" charset="-120"/>
              </a:rPr>
              <a:t>All work in daylight. Platforms move and trades work in the same six day week.</a:t>
            </a:r>
            <a:endParaRPr lang="en-US" sz="1200" dirty="0"/>
          </a:p>
        </p:txBody>
      </p:sp>
      <p:sp>
        <p:nvSpPr>
          <p:cNvPr id="7" name="Text 5"/>
          <p:cNvSpPr/>
          <p:nvPr/>
        </p:nvSpPr>
        <p:spPr>
          <a:xfrm>
            <a:off x="868680" y="2880360"/>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Work platforms operating</a:t>
            </a:r>
            <a:endParaRPr lang="en-US" sz="1250" dirty="0"/>
          </a:p>
        </p:txBody>
      </p:sp>
      <p:sp>
        <p:nvSpPr>
          <p:cNvPr id="8" name="Text 6"/>
          <p:cNvSpPr/>
          <p:nvPr/>
        </p:nvSpPr>
        <p:spPr>
          <a:xfrm>
            <a:off x="3749040" y="2880360"/>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8</a:t>
            </a:r>
            <a:endParaRPr lang="en-US" sz="1700" dirty="0"/>
          </a:p>
        </p:txBody>
      </p:sp>
      <p:sp>
        <p:nvSpPr>
          <p:cNvPr id="9" name="Text 7"/>
          <p:cNvSpPr/>
          <p:nvPr/>
        </p:nvSpPr>
        <p:spPr>
          <a:xfrm>
            <a:off x="868680" y="3538728"/>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People on the water or jetty</a:t>
            </a:r>
            <a:endParaRPr lang="en-US" sz="1250" dirty="0"/>
          </a:p>
        </p:txBody>
      </p:sp>
      <p:sp>
        <p:nvSpPr>
          <p:cNvPr id="10" name="Text 8"/>
          <p:cNvSpPr/>
          <p:nvPr/>
        </p:nvSpPr>
        <p:spPr>
          <a:xfrm>
            <a:off x="3749040" y="3538728"/>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about 51</a:t>
            </a:r>
            <a:endParaRPr lang="en-US" sz="1700" dirty="0"/>
          </a:p>
        </p:txBody>
      </p:sp>
      <p:sp>
        <p:nvSpPr>
          <p:cNvPr id="11" name="Text 9"/>
          <p:cNvSpPr/>
          <p:nvPr/>
        </p:nvSpPr>
        <p:spPr>
          <a:xfrm>
            <a:off x="868680" y="4197096"/>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Access cost</a:t>
            </a:r>
            <a:endParaRPr lang="en-US" sz="1250" dirty="0"/>
          </a:p>
        </p:txBody>
      </p:sp>
      <p:sp>
        <p:nvSpPr>
          <p:cNvPr id="12" name="Text 10"/>
          <p:cNvSpPr/>
          <p:nvPr/>
        </p:nvSpPr>
        <p:spPr>
          <a:xfrm>
            <a:off x="3749040" y="4197096"/>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$16.04M</a:t>
            </a:r>
            <a:endParaRPr lang="en-US" sz="1700" dirty="0"/>
          </a:p>
        </p:txBody>
      </p:sp>
      <p:sp>
        <p:nvSpPr>
          <p:cNvPr id="13" name="Text 11"/>
          <p:cNvSpPr/>
          <p:nvPr/>
        </p:nvSpPr>
        <p:spPr>
          <a:xfrm>
            <a:off x="868680" y="4855464"/>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Completion</a:t>
            </a:r>
            <a:endParaRPr lang="en-US" sz="1250" dirty="0"/>
          </a:p>
        </p:txBody>
      </p:sp>
      <p:sp>
        <p:nvSpPr>
          <p:cNvPr id="14" name="Text 12"/>
          <p:cNvSpPr/>
          <p:nvPr/>
        </p:nvSpPr>
        <p:spPr>
          <a:xfrm>
            <a:off x="3749040" y="4855464"/>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Oct 2028</a:t>
            </a:r>
            <a:endParaRPr lang="en-US" sz="1700" dirty="0"/>
          </a:p>
        </p:txBody>
      </p:sp>
      <p:sp>
        <p:nvSpPr>
          <p:cNvPr id="15" name="Shape 13"/>
          <p:cNvSpPr/>
          <p:nvPr/>
        </p:nvSpPr>
        <p:spPr>
          <a:xfrm>
            <a:off x="6217920" y="1600200"/>
            <a:ext cx="5440680" cy="4206240"/>
          </a:xfrm>
          <a:prstGeom prst="roundRect">
            <a:avLst>
              <a:gd name="adj" fmla="val 1739"/>
            </a:avLst>
          </a:prstGeom>
          <a:solidFill>
            <a:srgbClr val="FAF7F1"/>
          </a:solidFill>
          <a:ln w="31750">
            <a:solidFill>
              <a:srgbClr val="E87722"/>
            </a:solidFill>
            <a:prstDash val="solid"/>
          </a:ln>
        </p:spPr>
        <p:txBody>
          <a:bodyPr/>
          <a:p/>
        </p:txBody>
      </p:sp>
      <p:sp>
        <p:nvSpPr>
          <p:cNvPr id="16" name="Text 14"/>
          <p:cNvSpPr/>
          <p:nvPr/>
        </p:nvSpPr>
        <p:spPr>
          <a:xfrm>
            <a:off x="6537960" y="1810512"/>
            <a:ext cx="4846320" cy="365760"/>
          </a:xfrm>
          <a:prstGeom prst="rect">
            <a:avLst/>
          </a:prstGeom>
          <a:noFill/>
          <a:ln/>
        </p:spPr>
        <p:txBody>
          <a:bodyPr wrap="square" lIns="0" tIns="0" rIns="0" bIns="0" rtlCol="0" anchor="ctr"/>
          <a:lstStyle/>
          <a:p>
            <a:pPr indent="0" marL="0">
              <a:buNone/>
            </a:pPr>
            <a:r>
              <a:rPr lang="en-US" sz="1800" b="1" dirty="0">
                <a:solidFill>
                  <a:srgbClr val="E87722"/>
                </a:solidFill>
                <a:latin typeface="Georgia" pitchFamily="34" charset="0"/>
                <a:ea typeface="Georgia" pitchFamily="34" charset="-122"/>
                <a:cs typeface="Georgia" pitchFamily="34" charset="-120"/>
              </a:rPr>
              <a:t>Option 2  Retained, pending approvals</a:t>
            </a:r>
            <a:endParaRPr lang="en-US" sz="1800" dirty="0"/>
          </a:p>
        </p:txBody>
      </p:sp>
      <p:sp>
        <p:nvSpPr>
          <p:cNvPr id="17" name="Text 15"/>
          <p:cNvSpPr/>
          <p:nvPr/>
        </p:nvSpPr>
        <p:spPr>
          <a:xfrm>
            <a:off x="6537960" y="2194560"/>
            <a:ext cx="4846320" cy="594360"/>
          </a:xfrm>
          <a:prstGeom prst="rect">
            <a:avLst/>
          </a:prstGeom>
          <a:noFill/>
          <a:ln/>
        </p:spPr>
        <p:txBody>
          <a:bodyPr wrap="square" lIns="0" tIns="0" rIns="0" bIns="0" rtlCol="0" anchor="ctr"/>
          <a:lstStyle/>
          <a:p>
            <a:pPr indent="0" marL="0">
              <a:buNone/>
            </a:pPr>
            <a:r>
              <a:rPr lang="en-US" sz="1200" dirty="0">
                <a:solidFill>
                  <a:srgbClr val="8C8C8C"/>
                </a:solidFill>
                <a:latin typeface="Arial" pitchFamily="34" charset="0"/>
                <a:ea typeface="Arial" pitchFamily="34" charset="-122"/>
                <a:cs typeface="Arial" pitchFamily="34" charset="-120"/>
              </a:rPr>
              <a:t>Trades also work at night on the secured platform. All boat moves and lifting stay in daylight.</a:t>
            </a:r>
            <a:endParaRPr lang="en-US" sz="1200" dirty="0"/>
          </a:p>
        </p:txBody>
      </p:sp>
      <p:sp>
        <p:nvSpPr>
          <p:cNvPr id="18" name="Text 16"/>
          <p:cNvSpPr/>
          <p:nvPr/>
        </p:nvSpPr>
        <p:spPr>
          <a:xfrm>
            <a:off x="6537960" y="2880360"/>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Work platforms operating</a:t>
            </a:r>
            <a:endParaRPr lang="en-US" sz="1250" dirty="0"/>
          </a:p>
        </p:txBody>
      </p:sp>
      <p:sp>
        <p:nvSpPr>
          <p:cNvPr id="19" name="Text 17"/>
          <p:cNvSpPr/>
          <p:nvPr/>
        </p:nvSpPr>
        <p:spPr>
          <a:xfrm>
            <a:off x="9418320" y="2880360"/>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5</a:t>
            </a:r>
            <a:endParaRPr lang="en-US" sz="1700" dirty="0"/>
          </a:p>
        </p:txBody>
      </p:sp>
      <p:sp>
        <p:nvSpPr>
          <p:cNvPr id="20" name="Text 18"/>
          <p:cNvSpPr/>
          <p:nvPr/>
        </p:nvSpPr>
        <p:spPr>
          <a:xfrm>
            <a:off x="6537960" y="3538728"/>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People on site, two shifts</a:t>
            </a:r>
            <a:endParaRPr lang="en-US" sz="1250" dirty="0"/>
          </a:p>
        </p:txBody>
      </p:sp>
      <p:sp>
        <p:nvSpPr>
          <p:cNvPr id="21" name="Text 19"/>
          <p:cNvSpPr/>
          <p:nvPr/>
        </p:nvSpPr>
        <p:spPr>
          <a:xfrm>
            <a:off x="9418320" y="3538728"/>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about 59</a:t>
            </a:r>
            <a:endParaRPr lang="en-US" sz="1700" dirty="0"/>
          </a:p>
        </p:txBody>
      </p:sp>
      <p:sp>
        <p:nvSpPr>
          <p:cNvPr id="22" name="Text 20"/>
          <p:cNvSpPr/>
          <p:nvPr/>
        </p:nvSpPr>
        <p:spPr>
          <a:xfrm>
            <a:off x="6537960" y="4197096"/>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Access cost</a:t>
            </a:r>
            <a:endParaRPr lang="en-US" sz="1250" dirty="0"/>
          </a:p>
        </p:txBody>
      </p:sp>
      <p:sp>
        <p:nvSpPr>
          <p:cNvPr id="23" name="Text 21"/>
          <p:cNvSpPr/>
          <p:nvPr/>
        </p:nvSpPr>
        <p:spPr>
          <a:xfrm>
            <a:off x="9418320" y="4197096"/>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$14.22M</a:t>
            </a:r>
            <a:endParaRPr lang="en-US" sz="1700" dirty="0"/>
          </a:p>
        </p:txBody>
      </p:sp>
      <p:sp>
        <p:nvSpPr>
          <p:cNvPr id="24" name="Text 22"/>
          <p:cNvSpPr/>
          <p:nvPr/>
        </p:nvSpPr>
        <p:spPr>
          <a:xfrm>
            <a:off x="6537960" y="4855464"/>
            <a:ext cx="2834640" cy="59436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Completion</a:t>
            </a:r>
            <a:endParaRPr lang="en-US" sz="1250" dirty="0"/>
          </a:p>
        </p:txBody>
      </p:sp>
      <p:sp>
        <p:nvSpPr>
          <p:cNvPr id="25" name="Text 23"/>
          <p:cNvSpPr/>
          <p:nvPr/>
        </p:nvSpPr>
        <p:spPr>
          <a:xfrm>
            <a:off x="9418320" y="4855464"/>
            <a:ext cx="1920240" cy="594360"/>
          </a:xfrm>
          <a:prstGeom prst="rect">
            <a:avLst/>
          </a:prstGeom>
          <a:noFill/>
          <a:ln/>
        </p:spPr>
        <p:txBody>
          <a:bodyPr wrap="square" lIns="0" tIns="0" rIns="0" bIns="0" rtlCol="0" anchor="t"/>
          <a:lstStyle/>
          <a:p>
            <a:pPr algn="r" indent="0" marL="0">
              <a:buNone/>
            </a:pPr>
            <a:r>
              <a:rPr lang="en-US" sz="1700" b="1" dirty="0">
                <a:solidFill>
                  <a:srgbClr val="1A1A1A"/>
                </a:solidFill>
                <a:latin typeface="Georgia" pitchFamily="34" charset="0"/>
                <a:ea typeface="Georgia" pitchFamily="34" charset="-122"/>
                <a:cs typeface="Georgia" pitchFamily="34" charset="-120"/>
              </a:rPr>
              <a:t>Oct 2028</a:t>
            </a:r>
            <a:endParaRPr lang="en-US" sz="1700" dirty="0"/>
          </a:p>
        </p:txBody>
      </p:sp>
      <p:sp>
        <p:nvSpPr>
          <p:cNvPr id="26" name="Text 24"/>
          <p:cNvSpPr/>
          <p:nvPr/>
        </p:nvSpPr>
        <p:spPr>
          <a:xfrm>
            <a:off x="548640" y="5943600"/>
            <a:ext cx="11064240" cy="502920"/>
          </a:xfrm>
          <a:prstGeom prst="rect">
            <a:avLst/>
          </a:prstGeom>
          <a:noFill/>
          <a:ln/>
        </p:spPr>
        <p:txBody>
          <a:bodyPr wrap="square" lIns="0" tIns="0" rIns="0" bIns="0" rtlCol="0" anchor="ctr"/>
          <a:lstStyle/>
          <a:p>
            <a:pPr indent="0" marL="0">
              <a:buNone/>
            </a:pPr>
            <a:r>
              <a:rPr lang="en-US" sz="1100" i="1" dirty="0">
                <a:solidFill>
                  <a:srgbClr val="8C8C8C"/>
                </a:solidFill>
                <a:latin typeface="Arial" pitchFamily="34" charset="0"/>
                <a:ea typeface="Arial" pitchFamily="34" charset="-122"/>
                <a:cs typeface="Arial" pitchFamily="34" charset="-120"/>
              </a:rPr>
              <a:t>STL advised on 21 August 2026 that night work is not currently available and is enquiring on the approval requirements, so Option 2 stays live. Its compressed day pattern runs both trade shifts inside 0600 to 2200 on six fronts at about $13.95M; the 1800 to 2200 noise limit equals the daytime limit, so the ask shrinks from night work to evening work in a lit, enclosed habitat.</a:t>
            </a:r>
            <a:endParaRPr lang="en-US" sz="1100" dirty="0"/>
          </a:p>
        </p:txBody>
      </p:sp>
      <p:sp>
        <p:nvSpPr>
          <p:cNvPr id="27" name="Text 25"/>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B</a:t>
            </a:r>
            <a:endParaRPr lang="en-US" sz="900" dirty="0"/>
          </a:p>
        </p:txBody>
      </p:sp>
      <p:sp>
        <p:nvSpPr>
          <p:cNvPr id="28" name="Text 26"/>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64240" cy="685800"/>
          </a:xfrm>
          <a:prstGeom prst="rect">
            <a:avLst/>
          </a:prstGeom>
          <a:noFill/>
        </p:spPr>
        <p:txBody>
          <a:bodyPr wrap="none">
            <a:spAutoFit/>
          </a:bodyPr>
          <a:lstStyle/>
          <a:p>
            <a:r>
              <a:rPr sz="3000" b="1">
                <a:solidFill>
                  <a:srgbClr val="1A1A1A"/>
                </a:solidFill>
                <a:latin typeface="Georgia"/>
              </a:rPr>
              <a:t>Delivery trajectory against the deadline</a:t>
            </a:r>
          </a:p>
        </p:txBody>
      </p:sp>
      <p:pic>
        <p:nvPicPr>
          <p:cNvPr id="3" name="Picture 2" descr="ED-018-2026-02_Fig7_Cumulative_Delivery.png"/>
          <p:cNvPicPr>
            <a:picLocks noChangeAspect="1"/>
          </p:cNvPicPr>
          <p:nvPr/>
        </p:nvPicPr>
        <p:blipFill>
          <a:blip r:embed="rId2"/>
          <a:stretch>
            <a:fillRect/>
          </a:stretch>
        </p:blipFill>
        <p:spPr>
          <a:xfrm>
            <a:off x="600000" y="1249848"/>
            <a:ext cx="10992000" cy="48396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Why Option 1 is the recommended case</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Weather on this coast is the one input no study can pin down in advance.</a:t>
            </a:r>
            <a:endParaRPr lang="en-US" sz="1400" dirty="0"/>
          </a:p>
        </p:txBody>
      </p:sp>
      <p:graphicFrame>
        <p:nvGraphicFramePr>
          <p:cNvPr id="4" name="Chart 0" descr=""/>
          <p:cNvGraphicFramePr/>
          <p:nvPr/>
        </p:nvGraphicFramePr>
        <p:xfrm>
          <a:off x="548640" y="164592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949440" y="1737360"/>
            <a:ext cx="4663440" cy="402336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Option 1 needs eight, nine or ten platforms depending on how the weather lands. </a:t>
            </a:r>
            <a:pPr indent="0" marL="0">
              <a:buNone/>
            </a:pPr>
            <a:r>
              <a:rPr lang="en-US" sz="1400" dirty="0">
                <a:solidFill>
                  <a:srgbClr val="1A1A1A"/>
                </a:solidFill>
                <a:latin typeface="Arial" pitchFamily="34" charset="0"/>
                <a:ea typeface="Arial" pitchFamily="34" charset="-122"/>
                <a:cs typeface="Arial" pitchFamily="34" charset="-120"/>
              </a:rPr>
              <a:t>The fleet must be ordered before anyone knows.
</a:t>
            </a:r>
            <a:pPr indent="0" marL="0">
              <a:buNone/>
            </a:pPr>
            <a:r>
              <a:rPr lang="en-US" sz="1400" b="1" dirty="0">
                <a:solidFill>
                  <a:srgbClr val="E87722"/>
                </a:solidFill>
                <a:latin typeface="Arial" pitchFamily="34" charset="0"/>
                <a:ea typeface="Arial" pitchFamily="34" charset="-122"/>
                <a:cs typeface="Arial" pitchFamily="34" charset="-120"/>
              </a:rPr>
              <a:t>Option 2 needs six, in almost every case. </a:t>
            </a:r>
            <a:pPr indent="0" marL="0">
              <a:buNone/>
            </a:pPr>
            <a:r>
              <a:rPr lang="en-US" sz="1400" dirty="0">
                <a:solidFill>
                  <a:srgbClr val="1A1A1A"/>
                </a:solidFill>
                <a:latin typeface="Arial" pitchFamily="34" charset="0"/>
                <a:ea typeface="Arial" pitchFamily="34" charset="-122"/>
                <a:cs typeface="Arial" pitchFamily="34" charset="-120"/>
              </a:rPr>
              <a:t>Working the trades day and night halves the time each pilebent is exposed to the weather, so bad seasons cost days, not extra vessels.
</a:t>
            </a:r>
            <a:pPr indent="0" marL="0">
              <a:buNone/>
            </a:pPr>
            <a:r>
              <a:rPr lang="en-US" sz="1400" dirty="0">
                <a:solidFill>
                  <a:srgbClr val="1A1A1A"/>
                </a:solidFill>
                <a:latin typeface="Arial" pitchFamily="34" charset="0"/>
                <a:ea typeface="Arial" pitchFamily="34" charset="-122"/>
                <a:cs typeface="Arial" pitchFamily="34" charset="-120"/>
              </a:rPr>
              <a:t>Fewer platforms also means less new equipment to fabricate before a March 2027 start, the tightest lead time in the programme. The compressed day pattern, both shifts inside 0600 to 2200, captures most of this at six fronts without entering the night band.</a:t>
            </a:r>
            <a:endParaRPr lang="en-US" sz="1400" dirty="0"/>
          </a:p>
        </p:txBody>
      </p:sp>
      <p:sp>
        <p:nvSpPr>
          <p:cNvPr id="6" name="Text 3"/>
          <p:cNvSpPr/>
          <p:nvPr/>
        </p:nvSpPr>
        <p:spPr>
          <a:xfrm>
            <a:off x="548640" y="5852160"/>
            <a:ext cx="11064240" cy="457200"/>
          </a:xfrm>
          <a:prstGeom prst="rect">
            <a:avLst/>
          </a:prstGeom>
          <a:noFill/>
          <a:ln/>
        </p:spPr>
        <p:txBody>
          <a:bodyPr wrap="square" lIns="0" tIns="0" rIns="0" bIns="0" rtlCol="0" anchor="ctr"/>
          <a:lstStyle/>
          <a:p>
            <a:pPr indent="0" marL="0">
              <a:buNone/>
            </a:pPr>
            <a:r>
              <a:rPr lang="en-US" sz="1500" i="1" dirty="0">
                <a:solidFill>
                  <a:srgbClr val="1A1A1A"/>
                </a:solidFill>
                <a:latin typeface="Georgia" pitchFamily="34" charset="0"/>
                <a:ea typeface="Georgia" pitchFamily="34" charset="-122"/>
                <a:cs typeface="Georgia" pitchFamily="34" charset="-120"/>
              </a:rPr>
              <a:t>A commitment that holds still when the weather is known is worth more than a cheaper one that moves.</a:t>
            </a:r>
            <a:endParaRPr lang="en-US" sz="1500" dirty="0"/>
          </a:p>
        </p:txBody>
      </p:sp>
      <p:sp>
        <p:nvSpPr>
          <p:cNvPr id="7" name="Text 4"/>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B</a:t>
            </a:r>
            <a:endParaRPr lang="en-US" sz="900" dirty="0"/>
          </a:p>
        </p:txBody>
      </p:sp>
      <p:sp>
        <p:nvSpPr>
          <p:cNvPr id="8" name="Text 5"/>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What the outcome costs</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Compared like for like: access provision against access provision. The trade works are identical on both sides.</a:t>
            </a:r>
            <a:endParaRPr lang="en-US" sz="1400" dirty="0"/>
          </a:p>
        </p:txBody>
      </p:sp>
      <p:graphicFrame>
        <p:nvGraphicFramePr>
          <p:cNvPr id="4" name="Chart 0" descr=""/>
          <p:cNvGraphicFramePr/>
          <p:nvPr/>
        </p:nvGraphicFramePr>
        <p:xfrm>
          <a:off x="548640" y="1691640"/>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914400" y="5303520"/>
            <a:ext cx="2651760" cy="640080"/>
          </a:xfrm>
          <a:prstGeom prst="rect">
            <a:avLst/>
          </a:prstGeom>
          <a:noFill/>
          <a:ln/>
        </p:spPr>
        <p:txBody>
          <a:bodyPr wrap="square" lIns="0" tIns="0" rIns="0" bIns="0" rtlCol="0" anchor="ctr"/>
          <a:lstStyle/>
          <a:p>
            <a:pPr algn="ctr" indent="0" marL="0">
              <a:buNone/>
            </a:pPr>
            <a:r>
              <a:rPr lang="en-US" sz="1100" dirty="0">
                <a:solidFill>
                  <a:srgbClr val="8C8C8C"/>
                </a:solidFill>
                <a:latin typeface="Arial" pitchFamily="34" charset="0"/>
                <a:ea typeface="Arial" pitchFamily="34" charset="-122"/>
                <a:cs typeface="Arial" pitchFamily="34" charset="-120"/>
              </a:rPr>
              <a:t>Buys 0.36 stage equivalents per week</a:t>
            </a:r>
            <a:endParaRPr lang="en-US" sz="1100" dirty="0"/>
          </a:p>
          <a:p>
            <a:pPr algn="ctr" indent="0" marL="0">
              <a:buNone/>
            </a:pPr>
            <a:r>
              <a:rPr lang="en-US" sz="1100" dirty="0">
                <a:solidFill>
                  <a:srgbClr val="8C8C8C"/>
                </a:solidFill>
                <a:latin typeface="Arial" pitchFamily="34" charset="0"/>
                <a:ea typeface="Arial" pitchFamily="34" charset="-122"/>
                <a:cs typeface="Arial" pitchFamily="34" charset="-120"/>
              </a:rPr>
              <a:t>Finish beyond 2035 on that arithmetic</a:t>
            </a:r>
            <a:endParaRPr lang="en-US" sz="1100" dirty="0"/>
          </a:p>
        </p:txBody>
      </p:sp>
      <p:sp>
        <p:nvSpPr>
          <p:cNvPr id="6" name="Text 3"/>
          <p:cNvSpPr/>
          <p:nvPr/>
        </p:nvSpPr>
        <p:spPr>
          <a:xfrm>
            <a:off x="3657600" y="5303520"/>
            <a:ext cx="2651760" cy="640080"/>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Buys 4.5 to 5.1 per week</a:t>
            </a:r>
            <a:endParaRPr lang="en-US" sz="1100" dirty="0"/>
          </a:p>
          <a:p>
            <a:pPr algn="ctr" indent="0" marL="0">
              <a:buNone/>
            </a:pPr>
            <a:r>
              <a:rPr lang="en-US" sz="1100" b="1" dirty="0">
                <a:solidFill>
                  <a:srgbClr val="1A1A1A"/>
                </a:solidFill>
                <a:latin typeface="Arial" pitchFamily="34" charset="0"/>
                <a:ea typeface="Arial" pitchFamily="34" charset="-122"/>
                <a:cs typeface="Arial" pitchFamily="34" charset="-120"/>
              </a:rPr>
              <a:t>Finish October 2028</a:t>
            </a:r>
            <a:endParaRPr lang="en-US" sz="1100" dirty="0"/>
          </a:p>
        </p:txBody>
      </p:sp>
      <p:sp>
        <p:nvSpPr>
          <p:cNvPr id="7" name="Shape 4"/>
          <p:cNvSpPr/>
          <p:nvPr/>
        </p:nvSpPr>
        <p:spPr>
          <a:xfrm>
            <a:off x="6675120" y="1783080"/>
            <a:ext cx="4937760" cy="3291840"/>
          </a:xfrm>
          <a:prstGeom prst="roundRect">
            <a:avLst>
              <a:gd name="adj" fmla="val 2222"/>
            </a:avLst>
          </a:prstGeom>
          <a:solidFill>
            <a:srgbClr val="1A1A1A"/>
          </a:solidFill>
          <a:ln/>
        </p:spPr>
        <p:txBody>
          <a:bodyPr/>
          <a:p/>
        </p:txBody>
      </p:sp>
      <p:sp>
        <p:nvSpPr>
          <p:cNvPr id="8" name="Text 5"/>
          <p:cNvSpPr/>
          <p:nvPr/>
        </p:nvSpPr>
        <p:spPr>
          <a:xfrm>
            <a:off x="6949440" y="2103120"/>
            <a:ext cx="4389120" cy="731520"/>
          </a:xfrm>
          <a:prstGeom prst="rect">
            <a:avLst/>
          </a:prstGeom>
          <a:noFill/>
          <a:ln/>
        </p:spPr>
        <p:txBody>
          <a:bodyPr wrap="square" lIns="0" tIns="0" rIns="0" bIns="0" rtlCol="0" anchor="ctr"/>
          <a:lstStyle/>
          <a:p>
            <a:pPr indent="0" marL="0">
              <a:buNone/>
            </a:pPr>
            <a:r>
              <a:rPr lang="en-US" sz="3800" b="1" dirty="0">
                <a:solidFill>
                  <a:srgbClr val="E87722"/>
                </a:solidFill>
                <a:latin typeface="Georgia" pitchFamily="34" charset="0"/>
                <a:ea typeface="Georgia" pitchFamily="34" charset="-122"/>
                <a:cs typeface="Georgia" pitchFamily="34" charset="-120"/>
              </a:rPr>
              <a:t>$6.8M more</a:t>
            </a:r>
            <a:endParaRPr lang="en-US" sz="3800" dirty="0"/>
          </a:p>
        </p:txBody>
      </p:sp>
      <p:sp>
        <p:nvSpPr>
          <p:cNvPr id="9" name="Text 6"/>
          <p:cNvSpPr/>
          <p:nvPr/>
        </p:nvSpPr>
        <p:spPr>
          <a:xfrm>
            <a:off x="6949440" y="2880360"/>
            <a:ext cx="4389120" cy="9144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for the recommended day shift case is the difference between finishing beyond 2035 on that arithmetic and finishing in October 2028. If extended hours are approved it falls to $5.0M.</a:t>
            </a:r>
            <a:endParaRPr lang="en-US" sz="1600" dirty="0"/>
          </a:p>
        </p:txBody>
      </p:sp>
      <p:sp>
        <p:nvSpPr>
          <p:cNvPr id="10" name="Text 7"/>
          <p:cNvSpPr/>
          <p:nvPr/>
        </p:nvSpPr>
        <p:spPr>
          <a:xfrm>
            <a:off x="6949440" y="3977640"/>
            <a:ext cx="4389120" cy="822960"/>
          </a:xfrm>
          <a:prstGeom prst="rect">
            <a:avLst/>
          </a:prstGeom>
          <a:noFill/>
          <a:ln/>
        </p:spPr>
        <p:txBody>
          <a:bodyPr wrap="square" lIns="0" tIns="0" rIns="0" bIns="0" rtlCol="0" anchor="ctr"/>
          <a:lstStyle/>
          <a:p>
            <a:pPr indent="0" marL="0">
              <a:buNone/>
            </a:pPr>
            <a:r>
              <a:rPr lang="en-US" sz="1300" i="1" dirty="0">
                <a:solidFill>
                  <a:srgbClr val="CFCFCF"/>
                </a:solidFill>
                <a:latin typeface="Arial" pitchFamily="34" charset="0"/>
                <a:ea typeface="Arial" pitchFamily="34" charset="-122"/>
                <a:cs typeface="Arial" pitchFamily="34" charset="-120"/>
              </a:rPr>
              <a:t>1.7 times the access provision on day shift, 1.5 with extended hours, for thirteen times the claimed stage output.</a:t>
            </a:r>
            <a:endParaRPr lang="en-US" sz="1300" dirty="0"/>
          </a:p>
        </p:txBody>
      </p:sp>
      <p:sp>
        <p:nvSpPr>
          <p:cNvPr id="11" name="Text 8"/>
          <p:cNvSpPr/>
          <p:nvPr/>
        </p:nvSpPr>
        <p:spPr>
          <a:xfrm>
            <a:off x="548640" y="5989320"/>
            <a:ext cx="11064240" cy="502920"/>
          </a:xfrm>
          <a:prstGeom prst="rect">
            <a:avLst/>
          </a:prstGeom>
          <a:noFill/>
          <a:ln/>
        </p:spPr>
        <p:txBody>
          <a:bodyPr wrap="square" lIns="0" tIns="0" rIns="0" bIns="0" rtlCol="0" anchor="ctr"/>
          <a:lstStyle/>
          <a:p>
            <a:pPr indent="0" marL="0">
              <a:buNone/>
            </a:pPr>
            <a:r>
              <a:rPr lang="en-US" sz="950" dirty="0">
                <a:solidFill>
                  <a:srgbClr val="8C8C8C"/>
                </a:solidFill>
                <a:latin typeface="Arial" pitchFamily="34" charset="0"/>
                <a:ea typeface="Arial" pitchFamily="34" charset="-122"/>
                <a:cs typeface="Arial" pitchFamily="34" charset="-120"/>
              </a:rPr>
              <a:t>Screening estimates with 25 percent contingency; an estimate class is claimed at the controlled basis of estimate (HP8). Excludes platform fabrication, insurances, permits, port charges, accommodation and escalation, each identified for pricing at the next stage. Current method figure is derived from the priced schedule: safe access line items total $9,242,779.</a:t>
            </a:r>
            <a:endParaRPr lang="en-US" sz="950" dirty="0"/>
          </a:p>
        </p:txBody>
      </p:sp>
      <p:sp>
        <p:nvSpPr>
          <p:cNvPr id="12" name="Text 9"/>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B</a:t>
            </a:r>
            <a:endParaRPr lang="en-US" sz="900" dirty="0"/>
          </a:p>
        </p:txBody>
      </p:sp>
      <p:sp>
        <p:nvSpPr>
          <p:cNvPr id="13" name="Text 10"/>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Committing safely: pay for proof before the fleet</a:t>
            </a:r>
            <a:endParaRPr lang="en-US" sz="30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8C8C8C"/>
                </a:solidFill>
                <a:latin typeface="Arial" pitchFamily="34" charset="0"/>
                <a:ea typeface="Arial" pitchFamily="34" charset="-122"/>
                <a:cs typeface="Arial" pitchFamily="34" charset="-120"/>
              </a:rPr>
              <a:t>No study can know the true production rate. So the rate is measured before the money is committed.</a:t>
            </a:r>
            <a:endParaRPr lang="en-US" sz="1400" dirty="0"/>
          </a:p>
        </p:txBody>
      </p:sp>
      <p:sp>
        <p:nvSpPr>
          <p:cNvPr id="4" name="Shape 2"/>
          <p:cNvSpPr/>
          <p:nvPr/>
        </p:nvSpPr>
        <p:spPr>
          <a:xfrm>
            <a:off x="548640" y="1737360"/>
            <a:ext cx="3520440" cy="3291840"/>
          </a:xfrm>
          <a:prstGeom prst="roundRect">
            <a:avLst>
              <a:gd name="adj" fmla="val 2222"/>
            </a:avLst>
          </a:prstGeom>
          <a:solidFill>
            <a:srgbClr val="FFFFFF"/>
          </a:solidFill>
          <a:ln w="12700">
            <a:solidFill>
              <a:srgbClr val="E3E0DA"/>
            </a:solidFill>
            <a:prstDash val="solid"/>
          </a:ln>
        </p:spPr>
        <p:txBody>
          <a:bodyPr/>
          <a:p/>
        </p:txBody>
      </p:sp>
      <p:sp>
        <p:nvSpPr>
          <p:cNvPr id="5" name="Shape 3"/>
          <p:cNvSpPr/>
          <p:nvPr/>
        </p:nvSpPr>
        <p:spPr>
          <a:xfrm>
            <a:off x="822960" y="1965960"/>
            <a:ext cx="502920" cy="502920"/>
          </a:xfrm>
          <a:prstGeom prst="ellipse">
            <a:avLst/>
          </a:prstGeom>
          <a:solidFill>
            <a:srgbClr val="E87722"/>
          </a:solidFill>
          <a:ln/>
        </p:spPr>
        <p:txBody>
          <a:bodyPr/>
          <a:p/>
        </p:txBody>
      </p:sp>
      <p:sp>
        <p:nvSpPr>
          <p:cNvPr id="6" name="Text 4"/>
          <p:cNvSpPr/>
          <p:nvPr/>
        </p:nvSpPr>
        <p:spPr>
          <a:xfrm>
            <a:off x="82296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822960" y="2606040"/>
            <a:ext cx="2971800" cy="411480"/>
          </a:xfrm>
          <a:prstGeom prst="rect">
            <a:avLst/>
          </a:prstGeom>
          <a:noFill/>
          <a:ln/>
        </p:spPr>
        <p:txBody>
          <a:bodyPr wrap="square" lIns="0" tIns="0" rIns="0" bIns="0" rtlCol="0" anchor="ctr"/>
          <a:lstStyle/>
          <a:p>
            <a:pPr indent="0" marL="0">
              <a:buNone/>
            </a:pPr>
            <a:r>
              <a:rPr lang="en-US" sz="1700" b="1" dirty="0">
                <a:solidFill>
                  <a:srgbClr val="1A1A1A"/>
                </a:solidFill>
                <a:latin typeface="Georgia" pitchFamily="34" charset="0"/>
                <a:ea typeface="Georgia" pitchFamily="34" charset="-122"/>
                <a:cs typeface="Georgia" pitchFamily="34" charset="-120"/>
              </a:rPr>
              <a:t>Proving trial, Sep to Oct 2026</a:t>
            </a:r>
            <a:endParaRPr lang="en-US" sz="1700" dirty="0"/>
          </a:p>
        </p:txBody>
      </p:sp>
      <p:sp>
        <p:nvSpPr>
          <p:cNvPr id="8" name="Text 6"/>
          <p:cNvSpPr/>
          <p:nvPr/>
        </p:nvSpPr>
        <p:spPr>
          <a:xfrm>
            <a:off x="822960" y="3063240"/>
            <a:ext cx="2971800" cy="123444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One platform, the first pilebents. Every duration in this study is measured on the real structure in the real weather.</a:t>
            </a:r>
            <a:endParaRPr lang="en-US" sz="1200" dirty="0"/>
          </a:p>
        </p:txBody>
      </p:sp>
      <p:sp>
        <p:nvSpPr>
          <p:cNvPr id="9" name="Text 7"/>
          <p:cNvSpPr/>
          <p:nvPr/>
        </p:nvSpPr>
        <p:spPr>
          <a:xfrm>
            <a:off x="822960" y="4343400"/>
            <a:ext cx="2971800" cy="548640"/>
          </a:xfrm>
          <a:prstGeom prst="rect">
            <a:avLst/>
          </a:prstGeom>
          <a:noFill/>
          <a:ln/>
        </p:spPr>
        <p:txBody>
          <a:bodyPr wrap="square" lIns="0" tIns="0" rIns="0" bIns="0" rtlCol="0" anchor="t"/>
          <a:lstStyle/>
          <a:p>
            <a:pPr indent="0" marL="0">
              <a:buNone/>
            </a:pPr>
            <a:r>
              <a:rPr lang="en-US" sz="1100" i="1" dirty="0">
                <a:solidFill>
                  <a:srgbClr val="8C8C8C"/>
                </a:solidFill>
                <a:latin typeface="Arial" pitchFamily="34" charset="0"/>
                <a:ea typeface="Arial" pitchFamily="34" charset="-122"/>
                <a:cs typeface="Arial" pitchFamily="34" charset="-120"/>
              </a:rPr>
              <a:t>Priced $350k to $600k, Class 5; one week with the marine base, one without</a:t>
            </a:r>
            <a:endParaRPr lang="en-US" sz="1100" dirty="0"/>
          </a:p>
        </p:txBody>
      </p:sp>
      <p:sp>
        <p:nvSpPr>
          <p:cNvPr id="10" name="Text 8"/>
          <p:cNvSpPr/>
          <p:nvPr/>
        </p:nvSpPr>
        <p:spPr>
          <a:xfrm>
            <a:off x="4087368" y="3063240"/>
            <a:ext cx="329184" cy="457200"/>
          </a:xfrm>
          <a:prstGeom prst="rect">
            <a:avLst/>
          </a:prstGeom>
          <a:noFill/>
          <a:ln/>
        </p:spPr>
        <p:txBody>
          <a:bodyPr wrap="square" lIns="0" tIns="0" rIns="0" bIns="0" rtlCol="0" anchor="ctr"/>
          <a:lstStyle/>
          <a:p>
            <a:pPr algn="ctr" indent="0" marL="0">
              <a:buNone/>
            </a:pPr>
            <a:r>
              <a:rPr lang="en-US" sz="2200" b="1" dirty="0">
                <a:solidFill>
                  <a:srgbClr val="8C8C8C"/>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4434840" y="1737360"/>
            <a:ext cx="3520440" cy="3291840"/>
          </a:xfrm>
          <a:prstGeom prst="roundRect">
            <a:avLst>
              <a:gd name="adj" fmla="val 2222"/>
            </a:avLst>
          </a:prstGeom>
          <a:solidFill>
            <a:srgbClr val="FFFFFF"/>
          </a:solidFill>
          <a:ln w="12700">
            <a:solidFill>
              <a:srgbClr val="E3E0DA"/>
            </a:solidFill>
            <a:prstDash val="solid"/>
          </a:ln>
        </p:spPr>
        <p:txBody>
          <a:bodyPr/>
          <a:p/>
        </p:txBody>
      </p:sp>
      <p:sp>
        <p:nvSpPr>
          <p:cNvPr id="12" name="Shape 10"/>
          <p:cNvSpPr/>
          <p:nvPr/>
        </p:nvSpPr>
        <p:spPr>
          <a:xfrm>
            <a:off x="4709160" y="1965960"/>
            <a:ext cx="502920" cy="502920"/>
          </a:xfrm>
          <a:prstGeom prst="ellipse">
            <a:avLst/>
          </a:prstGeom>
          <a:solidFill>
            <a:srgbClr val="E87722"/>
          </a:solidFill>
          <a:ln/>
        </p:spPr>
        <p:txBody>
          <a:bodyPr/>
          <a:p/>
        </p:txBody>
      </p:sp>
      <p:sp>
        <p:nvSpPr>
          <p:cNvPr id="13" name="Text 11"/>
          <p:cNvSpPr/>
          <p:nvPr/>
        </p:nvSpPr>
        <p:spPr>
          <a:xfrm>
            <a:off x="470916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4709160" y="2606040"/>
            <a:ext cx="2971800" cy="411480"/>
          </a:xfrm>
          <a:prstGeom prst="rect">
            <a:avLst/>
          </a:prstGeom>
          <a:noFill/>
          <a:ln/>
        </p:spPr>
        <p:txBody>
          <a:bodyPr wrap="square" lIns="0" tIns="0" rIns="0" bIns="0" rtlCol="0" anchor="ctr"/>
          <a:lstStyle/>
          <a:p>
            <a:pPr indent="0" marL="0">
              <a:buNone/>
            </a:pPr>
            <a:r>
              <a:rPr lang="en-US" sz="1700" b="1" dirty="0">
                <a:solidFill>
                  <a:srgbClr val="1A1A1A"/>
                </a:solidFill>
                <a:latin typeface="Georgia" pitchFamily="34" charset="0"/>
                <a:ea typeface="Georgia" pitchFamily="34" charset="-122"/>
                <a:cs typeface="Georgia" pitchFamily="34" charset="-120"/>
              </a:rPr>
              <a:t>Proving campaign</a:t>
            </a:r>
            <a:endParaRPr lang="en-US" sz="1700" dirty="0"/>
          </a:p>
        </p:txBody>
      </p:sp>
      <p:sp>
        <p:nvSpPr>
          <p:cNvPr id="15" name="Text 13"/>
          <p:cNvSpPr/>
          <p:nvPr/>
        </p:nvSpPr>
        <p:spPr>
          <a:xfrm>
            <a:off x="4709160" y="3063240"/>
            <a:ext cx="2971800" cy="123444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The chosen contractor demonstrates the rate with a small fleet against the tendered production plan.</a:t>
            </a:r>
            <a:endParaRPr lang="en-US" sz="1200" dirty="0"/>
          </a:p>
        </p:txBody>
      </p:sp>
      <p:sp>
        <p:nvSpPr>
          <p:cNvPr id="16" name="Text 14"/>
          <p:cNvSpPr/>
          <p:nvPr/>
        </p:nvSpPr>
        <p:spPr>
          <a:xfrm>
            <a:off x="4709160" y="4343400"/>
            <a:ext cx="2971800" cy="548640"/>
          </a:xfrm>
          <a:prstGeom prst="rect">
            <a:avLst/>
          </a:prstGeom>
          <a:noFill/>
          <a:ln/>
        </p:spPr>
        <p:txBody>
          <a:bodyPr wrap="square" lIns="0" tIns="0" rIns="0" bIns="0" rtlCol="0" anchor="t"/>
          <a:lstStyle/>
          <a:p>
            <a:pPr indent="0" marL="0">
              <a:buNone/>
            </a:pPr>
            <a:r>
              <a:rPr lang="en-US" sz="1100" i="1" dirty="0">
                <a:solidFill>
                  <a:srgbClr val="8C8C8C"/>
                </a:solidFill>
                <a:latin typeface="Arial" pitchFamily="34" charset="0"/>
                <a:ea typeface="Arial" pitchFamily="34" charset="-122"/>
                <a:cs typeface="Arial" pitchFamily="34" charset="-120"/>
              </a:rPr>
              <a:t>STL holds a defined exit if the rate is not demonstrated</a:t>
            </a:r>
            <a:endParaRPr lang="en-US" sz="1100" dirty="0"/>
          </a:p>
        </p:txBody>
      </p:sp>
      <p:sp>
        <p:nvSpPr>
          <p:cNvPr id="17" name="Text 15"/>
          <p:cNvSpPr/>
          <p:nvPr/>
        </p:nvSpPr>
        <p:spPr>
          <a:xfrm>
            <a:off x="7973568" y="3063240"/>
            <a:ext cx="329184" cy="457200"/>
          </a:xfrm>
          <a:prstGeom prst="rect">
            <a:avLst/>
          </a:prstGeom>
          <a:noFill/>
          <a:ln/>
        </p:spPr>
        <p:txBody>
          <a:bodyPr wrap="square" lIns="0" tIns="0" rIns="0" bIns="0" rtlCol="0" anchor="ctr"/>
          <a:lstStyle/>
          <a:p>
            <a:pPr algn="ctr" indent="0" marL="0">
              <a:buNone/>
            </a:pPr>
            <a:r>
              <a:rPr lang="en-US" sz="2200" b="1" dirty="0">
                <a:solidFill>
                  <a:srgbClr val="8C8C8C"/>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8321040" y="1737360"/>
            <a:ext cx="3520440" cy="3291840"/>
          </a:xfrm>
          <a:prstGeom prst="roundRect">
            <a:avLst>
              <a:gd name="adj" fmla="val 2222"/>
            </a:avLst>
          </a:prstGeom>
          <a:solidFill>
            <a:srgbClr val="FAF7F1"/>
          </a:solidFill>
          <a:ln w="25400">
            <a:solidFill>
              <a:srgbClr val="E87722"/>
            </a:solidFill>
            <a:prstDash val="solid"/>
          </a:ln>
        </p:spPr>
        <p:txBody>
          <a:bodyPr/>
          <a:p/>
        </p:txBody>
      </p:sp>
      <p:sp>
        <p:nvSpPr>
          <p:cNvPr id="19" name="Shape 17"/>
          <p:cNvSpPr/>
          <p:nvPr/>
        </p:nvSpPr>
        <p:spPr>
          <a:xfrm>
            <a:off x="8595360" y="1965960"/>
            <a:ext cx="502920" cy="502920"/>
          </a:xfrm>
          <a:prstGeom prst="ellipse">
            <a:avLst/>
          </a:prstGeom>
          <a:solidFill>
            <a:srgbClr val="E87722"/>
          </a:solidFill>
          <a:ln/>
        </p:spPr>
        <p:txBody>
          <a:bodyPr/>
          <a:p/>
        </p:txBody>
      </p:sp>
      <p:sp>
        <p:nvSpPr>
          <p:cNvPr id="20" name="Text 18"/>
          <p:cNvSpPr/>
          <p:nvPr/>
        </p:nvSpPr>
        <p:spPr>
          <a:xfrm>
            <a:off x="859536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1" name="Text 19"/>
          <p:cNvSpPr/>
          <p:nvPr/>
        </p:nvSpPr>
        <p:spPr>
          <a:xfrm>
            <a:off x="8595360" y="2606040"/>
            <a:ext cx="2971800" cy="411480"/>
          </a:xfrm>
          <a:prstGeom prst="rect">
            <a:avLst/>
          </a:prstGeom>
          <a:noFill/>
          <a:ln/>
        </p:spPr>
        <p:txBody>
          <a:bodyPr wrap="square" lIns="0" tIns="0" rIns="0" bIns="0" rtlCol="0" anchor="ctr"/>
          <a:lstStyle/>
          <a:p>
            <a:pPr indent="0" marL="0">
              <a:buNone/>
            </a:pPr>
            <a:r>
              <a:rPr lang="en-US" sz="1700" b="1" dirty="0">
                <a:solidFill>
                  <a:srgbClr val="1A1A1A"/>
                </a:solidFill>
                <a:latin typeface="Georgia" pitchFamily="34" charset="0"/>
                <a:ea typeface="Georgia" pitchFamily="34" charset="-122"/>
                <a:cs typeface="Georgia" pitchFamily="34" charset="-120"/>
              </a:rPr>
              <a:t>Fleet order on the measured rate</a:t>
            </a:r>
            <a:endParaRPr lang="en-US" sz="1700" dirty="0"/>
          </a:p>
        </p:txBody>
      </p:sp>
      <p:sp>
        <p:nvSpPr>
          <p:cNvPr id="22" name="Text 20"/>
          <p:cNvSpPr/>
          <p:nvPr/>
        </p:nvSpPr>
        <p:spPr>
          <a:xfrm>
            <a:off x="8595360" y="3063240"/>
            <a:ext cx="2971800" cy="123444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The full fleet and the full term are committed only on the demonstrated cycle, not an assumed one.</a:t>
            </a:r>
            <a:endParaRPr lang="en-US" sz="1200" dirty="0"/>
          </a:p>
        </p:txBody>
      </p:sp>
      <p:sp>
        <p:nvSpPr>
          <p:cNvPr id="23" name="Text 21"/>
          <p:cNvSpPr/>
          <p:nvPr/>
        </p:nvSpPr>
        <p:spPr>
          <a:xfrm>
            <a:off x="8595360" y="4343400"/>
            <a:ext cx="2971800" cy="548640"/>
          </a:xfrm>
          <a:prstGeom prst="rect">
            <a:avLst/>
          </a:prstGeom>
          <a:noFill/>
          <a:ln/>
        </p:spPr>
        <p:txBody>
          <a:bodyPr wrap="square" lIns="0" tIns="0" rIns="0" bIns="0" rtlCol="0" anchor="t"/>
          <a:lstStyle/>
          <a:p>
            <a:pPr indent="0" marL="0">
              <a:buNone/>
            </a:pPr>
            <a:r>
              <a:rPr lang="en-US" sz="1100" i="1" dirty="0">
                <a:solidFill>
                  <a:srgbClr val="8C8C8C"/>
                </a:solidFill>
                <a:latin typeface="Arial" pitchFamily="34" charset="0"/>
                <a:ea typeface="Arial" pitchFamily="34" charset="-122"/>
                <a:cs typeface="Arial" pitchFamily="34" charset="-120"/>
              </a:rPr>
              <a:t>Payment runs on completed, quality closed pilebents per week</a:t>
            </a:r>
            <a:endParaRPr lang="en-US" sz="1100" dirty="0"/>
          </a:p>
        </p:txBody>
      </p:sp>
      <p:sp>
        <p:nvSpPr>
          <p:cNvPr id="24" name="Text 22"/>
          <p:cNvSpPr/>
          <p:nvPr/>
        </p:nvSpPr>
        <p:spPr>
          <a:xfrm>
            <a:off x="548640" y="5349240"/>
            <a:ext cx="11064240" cy="64008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market is asked to conform to this concept or beat it, scored on one framework where production capability outweighs price. Method risk stays with the contractor who chose the method.</a:t>
            </a:r>
            <a:endParaRPr lang="en-US" sz="1300" dirty="0"/>
          </a:p>
        </p:txBody>
      </p:sp>
      <p:sp>
        <p:nvSpPr>
          <p:cNvPr id="25" name="Text 23"/>
          <p:cNvSpPr/>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B</a:t>
            </a:r>
            <a:endParaRPr lang="en-US" sz="900" dirty="0"/>
          </a:p>
        </p:txBody>
      </p:sp>
      <p:sp>
        <p:nvSpPr>
          <p:cNvPr id="26" name="Text 24"/>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8C8C8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Decisions sought, and the path to the water</a:t>
            </a:r>
            <a:endParaRPr lang="en-US" sz="2800" dirty="0"/>
          </a:p>
        </p:txBody>
      </p:sp>
      <p:sp>
        <p:nvSpPr>
          <p:cNvPr id="3" name="Shape 1"/>
          <p:cNvSpPr/>
          <p:nvPr/>
        </p:nvSpPr>
        <p:spPr>
          <a:xfrm>
            <a:off x="1234440" y="1417320"/>
            <a:ext cx="256032" cy="256032"/>
          </a:xfrm>
          <a:prstGeom prst="ellipse">
            <a:avLst/>
          </a:prstGeom>
          <a:solidFill>
            <a:srgbClr val="E87722"/>
          </a:solidFill>
          <a:ln/>
        </p:spPr>
        <p:txBody>
          <a:bodyPr/>
          <a:p/>
        </p:txBody>
      </p:sp>
      <p:sp>
        <p:nvSpPr>
          <p:cNvPr id="4" name="Shape 2"/>
          <p:cNvSpPr/>
          <p:nvPr/>
        </p:nvSpPr>
        <p:spPr>
          <a:xfrm>
            <a:off x="1490472" y="1545336"/>
            <a:ext cx="1627632" cy="0"/>
          </a:xfrm>
          <a:prstGeom prst="line">
            <a:avLst/>
          </a:prstGeom>
          <a:noFill/>
          <a:ln w="19050">
            <a:solidFill>
              <a:srgbClr val="8C8C8C"/>
            </a:solidFill>
            <a:prstDash val="solid"/>
          </a:ln>
        </p:spPr>
        <p:txBody>
          <a:bodyPr/>
          <a:p/>
        </p:txBody>
      </p:sp>
      <p:sp>
        <p:nvSpPr>
          <p:cNvPr id="5" name="Text 3"/>
          <p:cNvSpPr/>
          <p:nvPr/>
        </p:nvSpPr>
        <p:spPr>
          <a:xfrm>
            <a:off x="548640" y="1783080"/>
            <a:ext cx="1737360" cy="320040"/>
          </a:xfrm>
          <a:prstGeom prst="rect">
            <a:avLst/>
          </a:prstGeom>
          <a:noFill/>
          <a:ln/>
        </p:spPr>
        <p:txBody>
          <a:bodyPr wrap="square" lIns="0" tIns="0" rIns="0" bIns="0" rtlCol="0" anchor="ctr"/>
          <a:lstStyle/>
          <a:p>
            <a:pPr algn="ctr" indent="0" marL="0">
              <a:buNone/>
            </a:pPr>
            <a:r>
              <a:rPr lang="en-US" sz="1100" b="1" dirty="0">
                <a:solidFill>
                  <a:srgbClr val="E87722"/>
                </a:solidFill>
                <a:latin typeface="Arial" pitchFamily="34" charset="0"/>
                <a:ea typeface="Arial" pitchFamily="34" charset="-122"/>
                <a:cs typeface="Arial" pitchFamily="34" charset="-120"/>
              </a:rPr>
              <a:t>Late Aug 2026</a:t>
            </a:r>
            <a:endParaRPr lang="en-US" sz="1100" dirty="0"/>
          </a:p>
        </p:txBody>
      </p:sp>
      <p:sp>
        <p:nvSpPr>
          <p:cNvPr id="6" name="Text 4"/>
          <p:cNvSpPr/>
          <p:nvPr/>
        </p:nvSpPr>
        <p:spPr>
          <a:xfrm>
            <a:off x="548640"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Decision: method and buying route</a:t>
            </a:r>
            <a:endParaRPr lang="en-US" sz="950" dirty="0"/>
          </a:p>
        </p:txBody>
      </p:sp>
      <p:sp>
        <p:nvSpPr>
          <p:cNvPr id="7" name="Shape 5"/>
          <p:cNvSpPr/>
          <p:nvPr/>
        </p:nvSpPr>
        <p:spPr>
          <a:xfrm>
            <a:off x="3118104" y="1417320"/>
            <a:ext cx="256032" cy="256032"/>
          </a:xfrm>
          <a:prstGeom prst="ellipse">
            <a:avLst/>
          </a:prstGeom>
          <a:solidFill>
            <a:srgbClr val="8C8C8C"/>
          </a:solidFill>
          <a:ln/>
        </p:spPr>
        <p:txBody>
          <a:bodyPr/>
          <a:p/>
        </p:txBody>
      </p:sp>
      <p:sp>
        <p:nvSpPr>
          <p:cNvPr id="8" name="Shape 6"/>
          <p:cNvSpPr/>
          <p:nvPr/>
        </p:nvSpPr>
        <p:spPr>
          <a:xfrm>
            <a:off x="3374136" y="1545336"/>
            <a:ext cx="1627632" cy="0"/>
          </a:xfrm>
          <a:prstGeom prst="line">
            <a:avLst/>
          </a:prstGeom>
          <a:noFill/>
          <a:ln w="19050">
            <a:solidFill>
              <a:srgbClr val="8C8C8C"/>
            </a:solidFill>
            <a:prstDash val="solid"/>
          </a:ln>
        </p:spPr>
        <p:txBody>
          <a:bodyPr/>
          <a:p/>
        </p:txBody>
      </p:sp>
      <p:sp>
        <p:nvSpPr>
          <p:cNvPr id="9" name="Text 7"/>
          <p:cNvSpPr/>
          <p:nvPr/>
        </p:nvSpPr>
        <p:spPr>
          <a:xfrm>
            <a:off x="2432304" y="1783080"/>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Sep to Oct</a:t>
            </a:r>
            <a:endParaRPr lang="en-US" sz="1100" dirty="0"/>
          </a:p>
        </p:txBody>
      </p:sp>
      <p:sp>
        <p:nvSpPr>
          <p:cNvPr id="10" name="Text 8"/>
          <p:cNvSpPr/>
          <p:nvPr/>
        </p:nvSpPr>
        <p:spPr>
          <a:xfrm>
            <a:off x="2432304"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Paid proving trial on real bents; approvals opened; market tested</a:t>
            </a:r>
            <a:endParaRPr lang="en-US" sz="950" dirty="0"/>
          </a:p>
        </p:txBody>
      </p:sp>
      <p:sp>
        <p:nvSpPr>
          <p:cNvPr id="11" name="Shape 9"/>
          <p:cNvSpPr/>
          <p:nvPr/>
        </p:nvSpPr>
        <p:spPr>
          <a:xfrm>
            <a:off x="5001768" y="1417320"/>
            <a:ext cx="256032" cy="256032"/>
          </a:xfrm>
          <a:prstGeom prst="ellipse">
            <a:avLst/>
          </a:prstGeom>
          <a:solidFill>
            <a:srgbClr val="8C8C8C"/>
          </a:solidFill>
          <a:ln/>
        </p:spPr>
        <p:txBody>
          <a:bodyPr/>
          <a:p/>
        </p:txBody>
      </p:sp>
      <p:sp>
        <p:nvSpPr>
          <p:cNvPr id="12" name="Shape 10"/>
          <p:cNvSpPr/>
          <p:nvPr/>
        </p:nvSpPr>
        <p:spPr>
          <a:xfrm>
            <a:off x="5257800" y="1545336"/>
            <a:ext cx="1627632" cy="0"/>
          </a:xfrm>
          <a:prstGeom prst="line">
            <a:avLst/>
          </a:prstGeom>
          <a:noFill/>
          <a:ln w="19050">
            <a:solidFill>
              <a:srgbClr val="8C8C8C"/>
            </a:solidFill>
            <a:prstDash val="solid"/>
          </a:ln>
        </p:spPr>
        <p:txBody>
          <a:bodyPr/>
          <a:p/>
        </p:txBody>
      </p:sp>
      <p:sp>
        <p:nvSpPr>
          <p:cNvPr id="13" name="Text 11"/>
          <p:cNvSpPr/>
          <p:nvPr/>
        </p:nvSpPr>
        <p:spPr>
          <a:xfrm>
            <a:off x="4315968" y="1783080"/>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Nov to Jan</a:t>
            </a:r>
            <a:endParaRPr lang="en-US" sz="1100" dirty="0"/>
          </a:p>
        </p:txBody>
      </p:sp>
      <p:sp>
        <p:nvSpPr>
          <p:cNvPr id="14" name="Text 12"/>
          <p:cNvSpPr/>
          <p:nvPr/>
        </p:nvSpPr>
        <p:spPr>
          <a:xfrm>
            <a:off x="4315968"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Tender and award, run through the wet season</a:t>
            </a:r>
            <a:endParaRPr lang="en-US" sz="950" dirty="0"/>
          </a:p>
        </p:txBody>
      </p:sp>
      <p:sp>
        <p:nvSpPr>
          <p:cNvPr id="15" name="Shape 13"/>
          <p:cNvSpPr/>
          <p:nvPr/>
        </p:nvSpPr>
        <p:spPr>
          <a:xfrm>
            <a:off x="6885432" y="1417320"/>
            <a:ext cx="256032" cy="256032"/>
          </a:xfrm>
          <a:prstGeom prst="ellipse">
            <a:avLst/>
          </a:prstGeom>
          <a:solidFill>
            <a:srgbClr val="8C8C8C"/>
          </a:solidFill>
          <a:ln/>
        </p:spPr>
        <p:txBody>
          <a:bodyPr/>
          <a:p/>
        </p:txBody>
      </p:sp>
      <p:sp>
        <p:nvSpPr>
          <p:cNvPr id="16" name="Shape 14"/>
          <p:cNvSpPr/>
          <p:nvPr/>
        </p:nvSpPr>
        <p:spPr>
          <a:xfrm>
            <a:off x="7141464" y="1545336"/>
            <a:ext cx="1627632" cy="0"/>
          </a:xfrm>
          <a:prstGeom prst="line">
            <a:avLst/>
          </a:prstGeom>
          <a:noFill/>
          <a:ln w="19050">
            <a:solidFill>
              <a:srgbClr val="8C8C8C"/>
            </a:solidFill>
            <a:prstDash val="solid"/>
          </a:ln>
        </p:spPr>
        <p:txBody>
          <a:bodyPr/>
          <a:p/>
        </p:txBody>
      </p:sp>
      <p:sp>
        <p:nvSpPr>
          <p:cNvPr id="17" name="Text 15"/>
          <p:cNvSpPr/>
          <p:nvPr/>
        </p:nvSpPr>
        <p:spPr>
          <a:xfrm>
            <a:off x="6199632" y="1783080"/>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Mar to Apr 2027</a:t>
            </a:r>
            <a:endParaRPr lang="en-US" sz="1100" dirty="0"/>
          </a:p>
        </p:txBody>
      </p:sp>
      <p:sp>
        <p:nvSpPr>
          <p:cNvPr id="18" name="Text 16"/>
          <p:cNvSpPr/>
          <p:nvPr/>
        </p:nvSpPr>
        <p:spPr>
          <a:xfrm>
            <a:off x="6199632"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Mobilise and prove the rate</a:t>
            </a:r>
            <a:endParaRPr lang="en-US" sz="950" dirty="0"/>
          </a:p>
        </p:txBody>
      </p:sp>
      <p:sp>
        <p:nvSpPr>
          <p:cNvPr id="19" name="Shape 17"/>
          <p:cNvSpPr/>
          <p:nvPr/>
        </p:nvSpPr>
        <p:spPr>
          <a:xfrm>
            <a:off x="8769096" y="1417320"/>
            <a:ext cx="256032" cy="256032"/>
          </a:xfrm>
          <a:prstGeom prst="ellipse">
            <a:avLst/>
          </a:prstGeom>
          <a:solidFill>
            <a:srgbClr val="8C8C8C"/>
          </a:solidFill>
          <a:ln/>
        </p:spPr>
        <p:txBody>
          <a:bodyPr/>
          <a:p/>
        </p:txBody>
      </p:sp>
      <p:sp>
        <p:nvSpPr>
          <p:cNvPr id="20" name="Shape 18"/>
          <p:cNvSpPr/>
          <p:nvPr/>
        </p:nvSpPr>
        <p:spPr>
          <a:xfrm>
            <a:off x="9025128" y="1545336"/>
            <a:ext cx="1627632" cy="0"/>
          </a:xfrm>
          <a:prstGeom prst="line">
            <a:avLst/>
          </a:prstGeom>
          <a:noFill/>
          <a:ln w="19050">
            <a:solidFill>
              <a:srgbClr val="8C8C8C"/>
            </a:solidFill>
            <a:prstDash val="solid"/>
          </a:ln>
        </p:spPr>
        <p:txBody>
          <a:bodyPr/>
          <a:p/>
        </p:txBody>
      </p:sp>
      <p:sp>
        <p:nvSpPr>
          <p:cNvPr id="21" name="Text 19"/>
          <p:cNvSpPr/>
          <p:nvPr/>
        </p:nvSpPr>
        <p:spPr>
          <a:xfrm>
            <a:off x="8083296" y="1783080"/>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2027 and 2028</a:t>
            </a:r>
            <a:endParaRPr lang="en-US" sz="1100" dirty="0"/>
          </a:p>
        </p:txBody>
      </p:sp>
      <p:sp>
        <p:nvSpPr>
          <p:cNvPr id="22" name="Text 20"/>
          <p:cNvSpPr/>
          <p:nvPr/>
        </p:nvSpPr>
        <p:spPr>
          <a:xfrm>
            <a:off x="8083296"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Two working seasons</a:t>
            </a:r>
            <a:endParaRPr lang="en-US" sz="950" dirty="0"/>
          </a:p>
        </p:txBody>
      </p:sp>
      <p:sp>
        <p:nvSpPr>
          <p:cNvPr id="23" name="Shape 21"/>
          <p:cNvSpPr/>
          <p:nvPr/>
        </p:nvSpPr>
        <p:spPr>
          <a:xfrm>
            <a:off x="10652760" y="1417320"/>
            <a:ext cx="256032" cy="256032"/>
          </a:xfrm>
          <a:prstGeom prst="ellipse">
            <a:avLst/>
          </a:prstGeom>
          <a:solidFill>
            <a:srgbClr val="E87722"/>
          </a:solidFill>
          <a:ln/>
        </p:spPr>
        <p:txBody>
          <a:bodyPr/>
          <a:p/>
        </p:txBody>
      </p:sp>
      <p:sp>
        <p:nvSpPr>
          <p:cNvPr id="24" name="Text 22"/>
          <p:cNvSpPr/>
          <p:nvPr/>
        </p:nvSpPr>
        <p:spPr>
          <a:xfrm>
            <a:off x="9966960" y="1783080"/>
            <a:ext cx="1737360" cy="320040"/>
          </a:xfrm>
          <a:prstGeom prst="rect">
            <a:avLst/>
          </a:prstGeom>
          <a:noFill/>
          <a:ln/>
        </p:spPr>
        <p:txBody>
          <a:bodyPr wrap="square" lIns="0" tIns="0" rIns="0" bIns="0" rtlCol="0" anchor="ctr"/>
          <a:lstStyle/>
          <a:p>
            <a:pPr algn="ctr" indent="0" marL="0">
              <a:buNone/>
            </a:pPr>
            <a:r>
              <a:rPr lang="en-US" sz="1100" b="1" dirty="0">
                <a:solidFill>
                  <a:srgbClr val="E87722"/>
                </a:solidFill>
                <a:latin typeface="Arial" pitchFamily="34" charset="0"/>
                <a:ea typeface="Arial" pitchFamily="34" charset="-122"/>
                <a:cs typeface="Arial" pitchFamily="34" charset="-120"/>
              </a:rPr>
              <a:t>Oct 2028</a:t>
            </a:r>
            <a:endParaRPr lang="en-US" sz="1100" dirty="0"/>
          </a:p>
        </p:txBody>
      </p:sp>
      <p:sp>
        <p:nvSpPr>
          <p:cNvPr id="25" name="Text 23"/>
          <p:cNvSpPr/>
          <p:nvPr/>
        </p:nvSpPr>
        <p:spPr>
          <a:xfrm>
            <a:off x="9966960" y="2103120"/>
            <a:ext cx="1737360" cy="822960"/>
          </a:xfrm>
          <a:prstGeom prst="rect">
            <a:avLst/>
          </a:prstGeom>
          <a:noFill/>
          <a:ln/>
        </p:spPr>
        <p:txBody>
          <a:bodyPr wrap="square" lIns="0" tIns="0" rIns="0" bIns="0" rtlCol="0" anchor="t"/>
          <a:lstStyle/>
          <a:p>
            <a:pPr algn="ctr" indent="0" marL="0">
              <a:buNone/>
            </a:pPr>
            <a:r>
              <a:rPr lang="en-US" sz="950" dirty="0">
                <a:solidFill>
                  <a:srgbClr val="CFCFCF"/>
                </a:solidFill>
                <a:latin typeface="Arial" pitchFamily="34" charset="0"/>
                <a:ea typeface="Arial" pitchFamily="34" charset="-122"/>
                <a:cs typeface="Arial" pitchFamily="34" charset="-120"/>
              </a:rPr>
              <a:t>Priority scope complete</a:t>
            </a:r>
            <a:endParaRPr lang="en-US" sz="950" dirty="0"/>
          </a:p>
        </p:txBody>
      </p:sp>
      <p:sp>
        <p:nvSpPr>
          <p:cNvPr id="26" name="Text 24"/>
          <p:cNvSpPr/>
          <p:nvPr/>
        </p:nvSpPr>
        <p:spPr>
          <a:xfrm>
            <a:off x="548640" y="3200400"/>
            <a:ext cx="11064240" cy="411480"/>
          </a:xfrm>
          <a:prstGeom prst="rect">
            <a:avLst/>
          </a:prstGeom>
          <a:noFill/>
          <a:ln/>
        </p:spPr>
        <p:txBody>
          <a:bodyPr wrap="square" lIns="0" tIns="0" rIns="0" bIns="0" rtlCol="0" anchor="ctr"/>
          <a:lstStyle/>
          <a:p>
            <a:pPr indent="0" marL="0">
              <a:buNone/>
            </a:pPr>
            <a:r>
              <a:rPr lang="en-US" sz="1800" b="1" dirty="0">
                <a:solidFill>
                  <a:srgbClr val="E87722"/>
                </a:solidFill>
                <a:latin typeface="Georgia" pitchFamily="34" charset="0"/>
                <a:ea typeface="Georgia" pitchFamily="34" charset="-122"/>
                <a:cs typeface="Georgia" pitchFamily="34" charset="-120"/>
              </a:rPr>
              <a:t>Sought from the Board today</a:t>
            </a:r>
            <a:endParaRPr lang="en-US" sz="1800" dirty="0"/>
          </a:p>
        </p:txBody>
      </p:sp>
      <p:sp>
        <p:nvSpPr>
          <p:cNvPr id="27" name="Text 25"/>
          <p:cNvSpPr/>
          <p:nvPr/>
        </p:nvSpPr>
        <p:spPr>
          <a:xfrm>
            <a:off x="548640" y="3703320"/>
            <a:ext cx="365760" cy="457200"/>
          </a:xfrm>
          <a:prstGeom prst="rect">
            <a:avLst/>
          </a:prstGeom>
          <a:noFill/>
          <a:ln/>
        </p:spPr>
        <p:txBody>
          <a:bodyPr wrap="square" lIns="0" tIns="0" rIns="0" bIns="0" rtlCol="0" anchor="ctr"/>
          <a:lstStyle/>
          <a:p>
            <a:pPr indent="0" marL="0">
              <a:buNone/>
            </a:pPr>
            <a:r>
              <a:rPr lang="en-US" sz="1600" b="1" dirty="0">
                <a:solidFill>
                  <a:srgbClr val="E87722"/>
                </a:solidFill>
                <a:latin typeface="Georgia" pitchFamily="34" charset="0"/>
                <a:ea typeface="Georgia" pitchFamily="34" charset="-122"/>
                <a:cs typeface="Georgia" pitchFamily="34" charset="-120"/>
              </a:rPr>
              <a:t>1</a:t>
            </a:r>
            <a:endParaRPr lang="en-US" sz="1600" dirty="0"/>
          </a:p>
        </p:txBody>
      </p:sp>
      <p:sp>
        <p:nvSpPr>
          <p:cNvPr id="28" name="Text 26"/>
          <p:cNvSpPr/>
          <p:nvPr/>
        </p:nvSpPr>
        <p:spPr>
          <a:xfrm>
            <a:off x="1005840" y="3730752"/>
            <a:ext cx="10424160" cy="530352"/>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Endorse the marine access method, in the Option 1 day shift configuration, as the reference concept for procurement.</a:t>
            </a:r>
            <a:endParaRPr lang="en-US" sz="1300" dirty="0"/>
          </a:p>
        </p:txBody>
      </p:sp>
      <p:sp>
        <p:nvSpPr>
          <p:cNvPr id="29" name="Text 27"/>
          <p:cNvSpPr/>
          <p:nvPr/>
        </p:nvSpPr>
        <p:spPr>
          <a:xfrm>
            <a:off x="548640" y="4270248"/>
            <a:ext cx="365760" cy="457200"/>
          </a:xfrm>
          <a:prstGeom prst="rect">
            <a:avLst/>
          </a:prstGeom>
          <a:noFill/>
          <a:ln/>
        </p:spPr>
        <p:txBody>
          <a:bodyPr wrap="square" lIns="0" tIns="0" rIns="0" bIns="0" rtlCol="0" anchor="ctr"/>
          <a:lstStyle/>
          <a:p>
            <a:pPr indent="0" marL="0">
              <a:buNone/>
            </a:pPr>
            <a:r>
              <a:rPr lang="en-US" sz="1600" b="1" dirty="0">
                <a:solidFill>
                  <a:srgbClr val="E87722"/>
                </a:solidFill>
                <a:latin typeface="Georgia" pitchFamily="34" charset="0"/>
                <a:ea typeface="Georgia" pitchFamily="34" charset="-122"/>
                <a:cs typeface="Georgia" pitchFamily="34" charset="-120"/>
              </a:rPr>
              <a:t>2</a:t>
            </a:r>
            <a:endParaRPr lang="en-US" sz="1600" dirty="0"/>
          </a:p>
        </p:txBody>
      </p:sp>
      <p:sp>
        <p:nvSpPr>
          <p:cNvPr id="30" name="Text 28"/>
          <p:cNvSpPr/>
          <p:nvPr/>
        </p:nvSpPr>
        <p:spPr>
          <a:xfrm>
            <a:off x="1005840" y="4297680"/>
            <a:ext cx="10424160" cy="530352"/>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Instruct the paid proving trial for September and October 2026, $350,000 to $600,000 at Class 5, so every number is calibrated on real pilebents before any fleet commitment; a September start needs the instruction within weeks.</a:t>
            </a:r>
            <a:endParaRPr lang="en-US" sz="1300" dirty="0"/>
          </a:p>
        </p:txBody>
      </p:sp>
      <p:sp>
        <p:nvSpPr>
          <p:cNvPr id="31" name="Text 29"/>
          <p:cNvSpPr/>
          <p:nvPr/>
        </p:nvSpPr>
        <p:spPr>
          <a:xfrm>
            <a:off x="548640" y="4837176"/>
            <a:ext cx="365760" cy="457200"/>
          </a:xfrm>
          <a:prstGeom prst="rect">
            <a:avLst/>
          </a:prstGeom>
          <a:noFill/>
          <a:ln/>
        </p:spPr>
        <p:txBody>
          <a:bodyPr wrap="square" lIns="0" tIns="0" rIns="0" bIns="0" rtlCol="0" anchor="ctr"/>
          <a:lstStyle/>
          <a:p>
            <a:pPr indent="0" marL="0">
              <a:buNone/>
            </a:pPr>
            <a:r>
              <a:rPr lang="en-US" sz="1600" b="1" dirty="0">
                <a:solidFill>
                  <a:srgbClr val="E87722"/>
                </a:solidFill>
                <a:latin typeface="Georgia" pitchFamily="34" charset="0"/>
                <a:ea typeface="Georgia" pitchFamily="34" charset="-122"/>
                <a:cs typeface="Georgia" pitchFamily="34" charset="-120"/>
              </a:rPr>
              <a:t>3</a:t>
            </a:r>
            <a:endParaRPr lang="en-US" sz="1600" dirty="0"/>
          </a:p>
        </p:txBody>
      </p:sp>
      <p:sp>
        <p:nvSpPr>
          <p:cNvPr id="32" name="Text 30"/>
          <p:cNvSpPr/>
          <p:nvPr/>
        </p:nvSpPr>
        <p:spPr>
          <a:xfrm>
            <a:off x="1005840" y="4864608"/>
            <a:ext cx="10424160" cy="530352"/>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Authorise the approvals pathway to open now; regulator lead time is the largest programme risk and precedes everything.</a:t>
            </a:r>
            <a:endParaRPr lang="en-US" sz="1300" dirty="0"/>
          </a:p>
        </p:txBody>
      </p:sp>
      <p:sp>
        <p:nvSpPr>
          <p:cNvPr id="33" name="Text 31"/>
          <p:cNvSpPr/>
          <p:nvPr/>
        </p:nvSpPr>
        <p:spPr>
          <a:xfrm>
            <a:off x="548640" y="5404104"/>
            <a:ext cx="365760" cy="457200"/>
          </a:xfrm>
          <a:prstGeom prst="rect">
            <a:avLst/>
          </a:prstGeom>
          <a:noFill/>
          <a:ln/>
        </p:spPr>
        <p:txBody>
          <a:bodyPr wrap="square" lIns="0" tIns="0" rIns="0" bIns="0" rtlCol="0" anchor="ctr"/>
          <a:lstStyle/>
          <a:p>
            <a:pPr indent="0" marL="0">
              <a:buNone/>
            </a:pPr>
            <a:r>
              <a:rPr lang="en-US" sz="1600" b="1" dirty="0">
                <a:solidFill>
                  <a:srgbClr val="E87722"/>
                </a:solidFill>
                <a:latin typeface="Georgia" pitchFamily="34" charset="0"/>
                <a:ea typeface="Georgia" pitchFamily="34" charset="-122"/>
                <a:cs typeface="Georgia" pitchFamily="34" charset="-120"/>
              </a:rPr>
              <a:t>4</a:t>
            </a:r>
            <a:endParaRPr lang="en-US" sz="1600" dirty="0"/>
          </a:p>
        </p:txBody>
      </p:sp>
      <p:sp>
        <p:nvSpPr>
          <p:cNvPr id="34" name="Text 32"/>
          <p:cNvSpPr/>
          <p:nvPr/>
        </p:nvSpPr>
        <p:spPr>
          <a:xfrm>
            <a:off x="1005840" y="5431536"/>
            <a:ext cx="10424160" cy="530352"/>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Note that the buying route (change under existing arrangements, a separate access package, or one consolidated package) returns to the Board after the options workshop.</a:t>
            </a:r>
            <a:endParaRPr lang="en-US" sz="1300" dirty="0"/>
          </a:p>
        </p:txBody>
      </p:sp>
      <p:sp>
        <p:nvSpPr>
          <p:cNvPr id="35" name="Text 33"/>
          <p:cNvSpPr/>
          <p:nvPr/>
        </p:nvSpPr>
        <p:spPr>
          <a:xfrm>
            <a:off x="548640" y="6473952"/>
            <a:ext cx="10972800" cy="274320"/>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Commercial in confidence  |  Endura Decommissioning  |  ED-018-2026-03  |  Rev B  |  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31800" y="274638"/>
            <a:ext cx="11328400" cy="640080"/>
          </a:xfrm>
          <a:prstGeom prst="rect">
            <a:avLst/>
          </a:prstGeom>
        </p:spPr>
        <p:txBody>
          <a:bodyPr/>
          <a:lstStyle/>
          <a:p>
            <a:r>
              <a:rPr lang="en-AU" sz="2800" b="1">
                <a:solidFill>
                  <a:srgbClr val="1A1A1A"/>
                </a:solidFill>
                <a:latin typeface="Arial"/>
              </a:rPr>
              <a:t>The marine base: six ways to buy it</a:t>
            </a:r>
          </a:p>
        </p:txBody>
      </p:sp>
      <p:sp>
        <p:nvSpPr>
          <p:cNvPr id="3" name="Sub"/>
          <p:cNvSpPr/>
          <p:nvPr/>
        </p:nvSpPr>
        <p:spPr>
          <a:xfrm>
            <a:off x="431800" y="892175"/>
            <a:ext cx="11328400" cy="429260"/>
          </a:xfrm>
          <a:prstGeom prst="rect">
            <a:avLst/>
          </a:prstGeom>
        </p:spPr>
        <p:txBody>
          <a:bodyPr/>
          <a:lstStyle/>
          <a:p>
            <a:r>
              <a:rPr lang="en-AU" sz="1400">
                <a:solidFill>
                  <a:srgbClr val="3B444C"/>
                </a:solidFill>
                <a:latin typeface="Arial"/>
              </a:rPr>
              <a:t>Each concept carries its own cycle and availability. The zone phased case keeps the jack up at the wharf head through season one, then services from the deck in the shelter. Removing the base entirely saves $3.55M net and costs a front and 8 percent of every shift.</a:t>
            </a:r>
          </a:p>
        </p:txBody>
      </p:sp>
      <p:pic>
        <p:nvPicPr>
          <p:cNvPr id="4" name="Menu"/>
          <p:cNvPicPr/>
          <p:nvPr/>
        </p:nvPicPr>
        <p:blipFill>
          <a:blip r:embed="rIdMENU"/>
          <a:stretch>
            <a:fillRect/>
          </a:stretch>
        </p:blipFill>
        <p:spPr>
          <a:xfrm>
            <a:off x="609600" y="1466850"/>
            <a:ext cx="10972800" cy="4768470"/>
          </a:xfrm>
          <a:prstGeom prst="rect">
            <a:avLst/>
          </a:prstGeom>
        </p:spPr>
      </p:pic>
      <p:sp>
        <p:nvSpPr>
          <p:cNvPr id="5" name="Foot"/>
          <p:cNvSpPr/>
          <p:nvPr/>
        </p:nvSpPr>
        <p:spPr>
          <a:xfrm>
            <a:off x="431800" y="6480175"/>
            <a:ext cx="11328400" cy="320040"/>
          </a:xfrm>
          <a:prstGeom prst="rect">
            <a:avLst/>
          </a:prstGeom>
        </p:spPr>
        <p:txBody>
          <a:bodyPr/>
          <a:lstStyle/>
          <a:p>
            <a:r>
              <a:rPr lang="en-AU" sz="1000">
                <a:solidFill>
                  <a:srgbClr val="8C8C8C"/>
                </a:solidFill>
                <a:latin typeface="Arial"/>
              </a:rPr>
              <a:t>Commercial in confidence  |  Endura Decommissioning  |  ED-018-2026-03  |  Rev B  |  10</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31800" y="274638"/>
            <a:ext cx="11328400" cy="640080"/>
          </a:xfrm>
          <a:prstGeom prst="rect">
            <a:avLst/>
          </a:prstGeom>
        </p:spPr>
        <p:txBody>
          <a:bodyPr/>
          <a:lstStyle/>
          <a:p>
            <a:r>
              <a:rPr lang="en-AU" sz="2800" b="1">
                <a:solidFill>
                  <a:srgbClr val="000000"/>
                </a:solidFill>
                <a:latin typeface="Poppins"/>
              </a:rPr>
              <a:t>Your three questions from 21 August, answered</a:t>
            </a:r>
          </a:p>
        </p:txBody>
      </p:sp>
      <p:sp>
        <p:nvSpPr>
          <p:cNvPr id="3" name="Body"/>
          <p:cNvSpPr/>
          <p:nvPr/>
        </p:nvSpPr>
        <p:spPr>
          <a:xfrm>
            <a:off x="431800" y="1100000"/>
            <a:ext cx="11328400" cy="5100000"/>
          </a:xfrm>
          <a:prstGeom prst="rect">
            <a:avLst/>
          </a:prstGeom>
        </p:spPr>
        <p:txBody>
          <a:bodyPr/>
          <a:lstStyle/>
          <a:p>
            <a:r>
              <a:rPr lang="en-AU" sz="1500" b="1">
                <a:solidFill>
                  <a:srgbClr val="000000"/>
                </a:solidFill>
                <a:latin typeface="Arial"/>
              </a:rPr>
              <a:t>The connection</a:t>
            </a:r>
          </a:p>
          <a:p>
            <a:r>
              <a:rPr lang="en-AU" sz="1400">
                <a:solidFill>
                  <a:srgbClr val="000000"/>
                </a:solidFill>
                <a:latin typeface="Arial"/>
              </a:rPr>
              <a:t>Winches connect to the concrete deck and kerb through anchor groups carrying forged lifting points, matching the STL precedent; nothing hangs from the steel. RPEQ design, independent check and proof load before the trial. Report Section 10.</a:t>
            </a:r>
          </a:p>
          <a:p>
            <a:endParaRPr lang="en-AU" sz="800"/>
          </a:p>
          <a:p>
            <a:r>
              <a:rPr lang="en-AU" sz="1500" b="1">
                <a:solidFill>
                  <a:srgbClr val="000000"/>
                </a:solidFill>
                <a:latin typeface="Arial"/>
              </a:rPr>
              <a:t>The securing</a:t>
            </a:r>
          </a:p>
          <a:p>
            <a:r>
              <a:rPr lang="en-AU" sz="1400">
                <a:solidFill>
                  <a:srgbClr val="000000"/>
                </a:solidFill>
                <a:latin typeface="Arial"/>
              </a:rPr>
              <a:t>Four braked hoists each under half rated load; positive ties once lifted, so the stage is fixed plant between moves. No single failure lowers a stage. Section 10.2.</a:t>
            </a:r>
          </a:p>
          <a:p>
            <a:endParaRPr lang="en-AU" sz="800"/>
          </a:p>
          <a:p>
            <a:r>
              <a:rPr lang="en-AU" sz="1500" b="1">
                <a:solidFill>
                  <a:srgbClr val="000000"/>
                </a:solidFill>
                <a:latin typeface="Arial"/>
              </a:rPr>
              <a:t>The barge, with and without</a:t>
            </a:r>
          </a:p>
          <a:p>
            <a:r>
              <a:rPr lang="en-AU" sz="1400">
                <a:solidFill>
                  <a:srgbClr val="000000"/>
                </a:solidFill>
                <a:latin typeface="Arial"/>
              </a:rPr>
              <a:t>Without: $12.49M, nine fronts, services on the roadway. With: 0.4 to 0.6 of a shift per bent returns to the tools; true net cost $2.1M to $2.8M. Section 9.2.</a:t>
            </a:r>
          </a:p>
          <a:p>
            <a:endParaRPr lang="en-AU" sz="800"/>
          </a:p>
        </p:txBody>
      </p:sp>
      <p:sp>
        <p:nvSpPr>
          <p:cNvPr id="4" name="Foot"/>
          <p:cNvSpPr/>
          <p:nvPr/>
        </p:nvSpPr>
        <p:spPr>
          <a:xfrm>
            <a:off x="431800" y="6480175"/>
            <a:ext cx="11328400" cy="320040"/>
          </a:xfrm>
          <a:prstGeom prst="rect">
            <a:avLst/>
          </a:prstGeom>
        </p:spPr>
        <p:txBody>
          <a:bodyPr/>
          <a:lstStyle/>
          <a:p>
            <a:r>
              <a:rPr lang="en-AU" sz="1000">
                <a:solidFill>
                  <a:srgbClr val="000000"/>
                </a:solidFill>
                <a:latin typeface="Arial"/>
              </a:rPr>
              <a:t>Commercial in confidence  |  Endura Decommissioning  |  ED-018-2026-03  |  Rev B  |  11</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31800" y="274638"/>
            <a:ext cx="11328400" cy="640080"/>
          </a:xfrm>
          <a:prstGeom prst="rect">
            <a:avLst/>
          </a:prstGeom>
        </p:spPr>
        <p:txBody>
          <a:bodyPr/>
          <a:lstStyle/>
          <a:p>
            <a:r>
              <a:rPr lang="en-AU" sz="2800" b="1">
                <a:solidFill>
                  <a:srgbClr val="000000"/>
                </a:solidFill>
                <a:latin typeface="Poppins"/>
              </a:rPr>
              <a:t>Decisions and dates</a:t>
            </a:r>
          </a:p>
        </p:txBody>
      </p:sp>
      <p:sp>
        <p:nvSpPr>
          <p:cNvPr id="3" name="Body"/>
          <p:cNvSpPr/>
          <p:nvPr/>
        </p:nvSpPr>
        <p:spPr>
          <a:xfrm>
            <a:off x="431800" y="1100000"/>
            <a:ext cx="11328400" cy="5100000"/>
          </a:xfrm>
          <a:prstGeom prst="rect">
            <a:avLst/>
          </a:prstGeom>
        </p:spPr>
        <p:txBody>
          <a:bodyPr/>
          <a:lstStyle/>
          <a:p>
            <a:r>
              <a:rPr lang="en-AU" sz="1500" b="1">
                <a:solidFill>
                  <a:srgbClr val="000000"/>
                </a:solidFill>
                <a:latin typeface="Arial"/>
              </a:rPr>
              <a:t>1. Instruct the proving trial</a:t>
            </a:r>
          </a:p>
          <a:p>
            <a:r>
              <a:rPr lang="en-AU" sz="1400">
                <a:solidFill>
                  <a:srgbClr val="000000"/>
                </a:solidFill>
                <a:latin typeface="Arial"/>
              </a:rPr>
              <a:t>$350,000 to $600,000, needed within weeks for the September window. Commits the trial only. One week with the marine base, one without, so the barge question is settled by measurement.</a:t>
            </a:r>
          </a:p>
          <a:p>
            <a:endParaRPr lang="en-AU" sz="800"/>
          </a:p>
          <a:p>
            <a:r>
              <a:rPr lang="en-AU" sz="1500" b="1">
                <a:solidFill>
                  <a:srgbClr val="000000"/>
                </a:solidFill>
                <a:latin typeface="Arial"/>
              </a:rPr>
              <a:t>2. Instruct the proving campaign</a:t>
            </a:r>
          </a:p>
          <a:p>
            <a:r>
              <a:rPr lang="en-AU" sz="1400">
                <a:solidFill>
                  <a:srgbClr val="000000"/>
                </a:solidFill>
                <a:latin typeface="Arial"/>
              </a:rPr>
              <a:t>First bents of season one, at tender award. Commits one season’s mobilisation.</a:t>
            </a:r>
          </a:p>
          <a:p>
            <a:endParaRPr lang="en-AU" sz="800"/>
          </a:p>
          <a:p>
            <a:r>
              <a:rPr lang="en-AU" sz="1500" b="1">
                <a:solidFill>
                  <a:srgbClr val="000000"/>
                </a:solidFill>
                <a:latin typeface="Arial"/>
              </a:rPr>
              <a:t>3. Fleet order on the measured cycle</a:t>
            </a:r>
          </a:p>
          <a:p>
            <a:r>
              <a:rPr lang="en-AU" sz="1400">
                <a:solidFill>
                  <a:srgbClr val="000000"/>
                </a:solidFill>
                <a:latin typeface="Arial"/>
              </a:rPr>
              <a:t>Taken only after the trial collapses the eight to ten front range. The campaign commitment.</a:t>
            </a:r>
          </a:p>
          <a:p>
            <a:endParaRPr lang="en-AU" sz="800"/>
          </a:p>
          <a:p>
            <a:r>
              <a:rPr lang="en-AU" sz="1500" b="1">
                <a:solidFill>
                  <a:srgbClr val="000000"/>
                </a:solidFill>
                <a:latin typeface="Arial"/>
              </a:rPr>
              <a:t>Also sought</a:t>
            </a:r>
          </a:p>
          <a:p>
            <a:r>
              <a:rPr lang="en-AU" sz="1400">
                <a:solidFill>
                  <a:srgbClr val="000000"/>
                </a:solidFill>
                <a:latin typeface="Arial"/>
              </a:rPr>
              <a:t>The repair library principle; the written night and evening position; chart depths; the preferred base scenario before the workshop.</a:t>
            </a:r>
          </a:p>
          <a:p>
            <a:endParaRPr lang="en-AU" sz="800"/>
          </a:p>
        </p:txBody>
      </p:sp>
      <p:sp>
        <p:nvSpPr>
          <p:cNvPr id="4" name="Foot"/>
          <p:cNvSpPr/>
          <p:nvPr/>
        </p:nvSpPr>
        <p:spPr>
          <a:xfrm>
            <a:off x="431800" y="6480175"/>
            <a:ext cx="11328400" cy="320040"/>
          </a:xfrm>
          <a:prstGeom prst="rect">
            <a:avLst/>
          </a:prstGeom>
        </p:spPr>
        <p:txBody>
          <a:bodyPr/>
          <a:lstStyle/>
          <a:p>
            <a:r>
              <a:rPr lang="en-AU" sz="1000">
                <a:solidFill>
                  <a:srgbClr val="000000"/>
                </a:solidFill>
                <a:latin typeface="Arial"/>
              </a:rPr>
              <a:t>Commercial in confidence  |  Endura Decommissioning  |  ED-018-2026-03  |  Rev B  |  12</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2026-08-20T18:37:36Z</dcterms:created>
  <dcterms:modified xsi:type="dcterms:W3CDTF">2026-08-20T18:37:36Z</dcterms:modified>
</cp:coreProperties>
</file>