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74519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751F"/>
                </a:solidFill>
                <a:latin typeface="Poppins"/>
              </a:rPr>
              <a:t>OPTIONS ASSESSMENT</a:t>
            </a:r>
          </a:p>
          <a:p>
            <a:r>
              <a:rPr sz="4000" b="1">
                <a:solidFill>
                  <a:srgbClr val="000000"/>
                </a:solidFill>
                <a:latin typeface="Poppins"/>
              </a:rPr>
              <a:t>Lucinda Jetty Remediation</a:t>
            </a:r>
          </a:p>
          <a:p>
            <a:r>
              <a:rPr sz="2800" b="1">
                <a:solidFill>
                  <a:srgbClr val="595959"/>
                </a:solidFill>
                <a:latin typeface="Poppins"/>
              </a:rPr>
              <a:t>Access Methodology</a:t>
            </a:r>
          </a:p>
          <a:p/>
          <a:p>
            <a:r>
              <a:rPr sz="1400">
                <a:solidFill>
                  <a:srgbClr val="000000"/>
                </a:solidFill>
                <a:latin typeface="Arial"/>
              </a:rPr>
              <a:t>Prepared for Sugar Terminals Limited</a:t>
            </a:r>
          </a:p>
          <a:p>
            <a:r>
              <a:rPr sz="1200">
                <a:solidFill>
                  <a:srgbClr val="595959"/>
                </a:solidFill>
                <a:latin typeface="Arial"/>
              </a:rPr>
              <a:t>ED-018-2026-03  Rev B  |  26 August 2026  |  Commercial in confidence</a:t>
            </a:r>
          </a:p>
          <a:p>
            <a:r>
              <a:rPr sz="1200" i="1">
                <a:solidFill>
                  <a:srgbClr val="595959"/>
                </a:solidFill>
                <a:latin typeface="Arial"/>
              </a:rPr>
              <a:t>From liability to closure.</a:t>
            </a:r>
          </a:p>
        </p:txBody>
      </p:sp>
      <p:pic>
        <p:nvPicPr>
          <p:cNvPr id="3" name="Picture 2" descr="endura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828800"/>
            <a:ext cx="2606040" cy="26046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THE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Why STL commissioned this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95959"/>
                </a:solidFill>
                <a:latin typeface="Arial"/>
              </a:rPr>
              <a:t>Endura Decommissioning was engaged to assess how access is provided to the remediation, and to recommend a method that finishes by end 2028.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556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227 priority bents must clear within the 2027 and 2028 working seasons.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That requires 4.5 completed bents a week.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The works are delivering well under one bent a week.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The gap is not workmanship. It is the access method: scaffold erected, encapsulated, dismantled and rebuilt at every bent.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This assessment changes how crews reach the work, not what the work is.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The welding, blasting, coating and jackets, and the crews and contract rates that do them, are unchanged throughout.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The current method has a ceiling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95959"/>
                </a:solidFill>
                <a:latin typeface="Arial"/>
              </a:rPr>
              <a:t>A scaffold bent takes 15 to 16 working days, and only about half of that is trade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6692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The access is rebuilt at every bent, 227 times.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Erection, encapsulation, the engineering approval hold, dismantling, then again at the next bent.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In practice the site holds near five scaffold crews.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Single welding and blasting spiders and a single lane 8 tonne roadway limit adding more.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Even five uninterrupted fronts deliver 1.3 to 1.7 bents a week.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Reaching 4.5 would take 14 to 18 simultaneous scaffold fronts, which the structure cannot host. The ceiling belongs to the method, not to any contractor.</a:t>
            </a:r>
          </a:p>
        </p:txBody>
      </p:sp>
      <p:pic>
        <p:nvPicPr>
          <p:cNvPr id="7" name="Picture 6" descr="fig2_access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7400"/>
            <a:ext cx="5303520" cy="23787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Build the access once, move it 227 times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95959"/>
                </a:solidFill>
                <a:latin typeface="Arial"/>
              </a:rPr>
              <a:t>Floating stages lifted on synchronised chain blocks, served by a floating marine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6692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Work platforms float to each bent and lift clear of the tide.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Four 2 tonne electric chain blocks per stage, synchronised, third party certified for man riding. At height the stage ties to the structure and becomes a fixed workplace.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Containment travels with the stage.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Two hours and one roll per bent; spent abrasive and debris recovered from the wrapped deck.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A small jack up barge is the floating services hub.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Power, air, stores, fuel, welfare and materials a gangway from the work face, keeping the roadway clear.</a:t>
            </a:r>
          </a:p>
        </p:txBody>
      </p:sp>
      <p:pic>
        <p:nvPicPr>
          <p:cNvPr id="7" name="Picture 6" descr="fig3_work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7400"/>
            <a:ext cx="5303520" cy="28594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COMMERCIAL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What it delivers, and what it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95959"/>
                </a:solidFill>
                <a:latin typeface="Arial"/>
              </a:rPr>
              <a:t>Access provision at concept stage with 25 percent contingency. Every figure computes in the companion model.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1115568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377440"/>
                <a:gridCol w="2377440"/>
              </a:tblGrid>
              <a:tr h="310896">
                <a:tc>
                  <a:txBody>
                    <a:bodyPr/>
                    <a:lstStyle/>
                    <a:p/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Current scaffold</a:t>
                      </a:r>
                    </a:p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Day shift, recommended</a:t>
                      </a:r>
                    </a:p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Extended hours, if approved</a:t>
                      </a:r>
                    </a:p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Delivery rate, bents per week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well under 1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4.5 to 4.7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4.5 to 4.7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Access provision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$9.24M allowed in the schedule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$16.04M  |  8 fronts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$14.22M  |  5 fronts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Completion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does not finish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October 2028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October 2028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977639"/>
            <a:ext cx="111556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About $6.8M of additional access buys the outcome: a job that finishes inside the deadline.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33333"/>
                </a:solidFill>
                <a:latin typeface="Arial"/>
              </a:rPr>
              <a:t>The optimisation path, principally the marine base choice and its wet season arrangements, brings the day shift provision toward about $11.3M as quotations firm.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WORKING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Day shift stands on its own; extended hours add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95959"/>
                </a:solidFill>
                <a:latin typeface="Arial"/>
              </a:rPr>
              <a:t>Day shift reflects STL’s stated preference. The written approvals position is a decision gate, not an assumption.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1115568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560320"/>
                <a:gridCol w="2468880"/>
              </a:tblGrid>
              <a:tr h="310896">
                <a:tc>
                  <a:txBody>
                    <a:bodyPr/>
                    <a:lstStyle/>
                    <a:p/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Day shift</a:t>
                      </a:r>
                    </a:p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0600 to 2200 pattern</a:t>
                      </a:r>
                    </a:p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Extended hours</a:t>
                      </a:r>
                    </a:p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Work fronts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Access provision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$16.04M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$13.95M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$14.22M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Approvals needed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none beyond current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evening extension; overnight never entered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Arial"/>
                        </a:rPr>
                        <a:t>night working variation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148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All marine work stays in daylight in every pattern.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33333"/>
                </a:solidFill>
                <a:latin typeface="Arial"/>
              </a:rPr>
              <a:t>After dark, trades work only on platforms already lifted, tied and secured as fixed plant, inside the lit, enclosed habitat, with standby cover on the water.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THE MARINE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One line, priced every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95959"/>
                </a:solidFill>
                <a:latin typeface="Arial"/>
              </a:rPr>
              <a:t>The largest single line, about $4.3M before contingency, so it is presented as a choice with evidence.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111556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97680"/>
                <a:gridCol w="914400"/>
                <a:gridCol w="1371600"/>
                <a:gridCol w="155448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Arrangement</a:t>
                      </a:r>
                    </a:p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Fronts</a:t>
                      </a:r>
                    </a:p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Access $M</a:t>
                      </a:r>
                    </a:p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Finish</a:t>
                      </a:r>
                    </a:p>
                  </a:txBody>
                  <a:tcPr marT="38100" marB="38100" marL="76200" marR="76200" anchor="ctr"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No marine base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All services from the wharf; crews travel the roadway for every need; a ninth front covers the lost hour each shift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12.49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late Sep 2028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Jack up barge, whole campaign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The carried, conservative case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16.04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11 Oct 2028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Same, serviced productivity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The half to one shift a bent the base returns, priced in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15.34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17 Sep 2028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Barge in Zone 3 only, season one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Base holds the exposed outer water where draft demands it; season two shore serviced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14.68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23 Oct 2028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Zone 3 season one on a moored spud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As above with a cheaper moored barge for season one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13.08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23 Oct 2028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Moored spud, whole campaign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Same services at a lower day rate; rough weather boarding is the trade off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12.26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11 Oct 2028</a:t>
                      </a:r>
                    </a:p>
                  </a:txBody>
                  <a:tcPr marT="38100" marB="38100" marL="76200" marR="762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235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Without the base: $3.55M saved on paper, a ninth front and an hour of every shift lost. Real net cost of keeping it: $2.1M to $2.8M.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THE MARINE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Access cost by arrangement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1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10607040" cy="4186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How it connects to the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95959"/>
                </a:solidFill>
                <a:latin typeface="Arial"/>
              </a:rPr>
              <a:t>The corroded headstock steel, the member being remediated, carries nothing.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6692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The load path runs through the precast concrete roadway and kerb.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Groups of M14 screw anchors carrying forged swivel lifting points, consistent with previous over water works at the terminal.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The strength is proven, not assumed.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Registered professional engineer design with independent check, third party man riding certification, and a proof load test at every anchor point one bent ahead.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The certified precedent runs the same hoisting system at under half its rated load.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The supplier’s Lucinda methodology and lift plan follow as an annex.</a:t>
            </a:r>
          </a:p>
        </p:txBody>
      </p:sp>
      <p:pic>
        <p:nvPicPr>
          <p:cNvPr id="7" name="Picture 6" descr="fig10_h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303520" cy="2968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Why a stage cannot simply 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95959"/>
                </a:solidFill>
                <a:latin typeface="Arial"/>
              </a:rPr>
              <a:t>Layered, independent controls, each proven before anyone relies on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556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Four braked hoists share every lift, each under half its rated load.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The group holds the stage with margin even with one hoist discounted.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Every anchor point is proof load tested one bent ahead.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Before any load, and before any person steps on.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Lifting is the exception, not the norm.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At working height the stage transfers onto positive ties and the hoists come off load; the blocks carry load only while travelling between bents.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Crews are off the stage for every lift; a rescue craft is on the water whenever crews work over it.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No single failure lowers a stage.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PROGRAMME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Finished with three weeks in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95959"/>
                </a:solidFill>
                <a:latin typeface="Arial"/>
              </a:rPr>
              <a:t>Trial before the first cyclone closure; procurement and fabrication through the wet season; two working seasons.</a:t>
            </a:r>
          </a:p>
        </p:txBody>
      </p:sp>
      <p:pic>
        <p:nvPicPr>
          <p:cNvPr id="6" name="Picture 5" descr="fig6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10881360" cy="38079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3949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Modelled completion 11 October 2028, three weeks before the closure and 82 days before the end 2028 requirement.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33333"/>
                </a:solidFill>
                <a:latin typeface="Arial"/>
              </a:rPr>
              <a:t>A dated, bent by bent programme is a deliverable before any fleet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THE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The proving trial commits nothing beyond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95959"/>
                </a:solidFill>
                <a:latin typeface="Arial"/>
              </a:rPr>
              <a:t>Two to four weeks on the real bents, September and October 2026, $350,000 to $600,000.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556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The supplier’s five existing platforms, a workboat, anchors installed and proof tested, containment fitted, everything measured.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One week with the marine base and one week without it.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The biggest open cost question is settled by measured cycle times.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A September start needs the STL instruction within weeks.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333333"/>
                </a:solidFill>
                <a:latin typeface="Arial"/>
              </a:rPr>
              <a:t>The signable instruction is Appendix D of the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Six decisions sought from STL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95959"/>
                </a:solidFill>
                <a:latin typeface="Arial"/>
              </a:rPr>
              <a:t>Commitment is staged: approving each step never commits the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111556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1.  Agree the pre approved repair detail library with the Superintendent.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  <a:latin typeface="Arial"/>
              </a:rPr>
              <a:t>Removes a standing engineering hold from every bent, at no plant cost.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2.  Instruct the proving trial for September and October 2026.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  <a:latin typeface="Arial"/>
              </a:rPr>
              <a:t>Within weeks of this issue for the September window.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3.  Confirm the written position on working hours.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  <a:latin typeface="Arial"/>
              </a:rPr>
              <a:t>Banks or sets aside the extended hours value on evidence.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4.  Provide chart depths along the alignment, or authorise the survey.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5.  Indicate the preferred marine base arrangement.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6.  Provide the bent register extract confirming the scope count.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  <a:latin typeface="Arial"/>
              </a:rPr>
              <a:t>227 carried; the current register runs to 257.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751F"/>
                </a:solidFill>
                <a:latin typeface="Poppin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Poppins"/>
              </a:rPr>
              <a:t>The position,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The current access method cannot reach the deadline at any level of effort.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The marine method finishes in October 2028 for about $6.8M of additional access provision, with the trade works untouched.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Every material risk is priced, gated behind a hold point, or answered by the trial.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Every figure reconciles to the companion model, and the quotations behind the rates are on file.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The ask this month: the trial instruction and the repair library. Everything else follows the evidence.</a:t>
            </a:r>
          </a:p>
        </p:txBody>
      </p:sp>
      <p:pic>
        <p:nvPicPr>
          <p:cNvPr id="6" name="Picture 5" descr="endura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846320"/>
            <a:ext cx="1920240" cy="19192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95959"/>
                </a:solidFill>
                <a:latin typeface="Arial"/>
              </a:rPr>
              <a:t>Commercial in confidence  |  Endura Decommissioning  |  ED-018-2026-03  |  Rev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